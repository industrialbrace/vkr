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79" r:id="rId5"/>
    <p:sldId id="281" r:id="rId6"/>
    <p:sldId id="282" r:id="rId7"/>
    <p:sldId id="283" r:id="rId8"/>
    <p:sldId id="285" r:id="rId32"/>
    <p:sldId id="284" r:id="rId9"/>
    <p:sldId id="280" r:id="rId10"/>
    <p:sldId id="276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3077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if0MoI7WtcNSt+DHMGVizH6/gV1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94"/>
  </p:normalViewPr>
  <p:slideViewPr>
    <p:cSldViewPr snapToGrid="0">
      <p:cViewPr varScale="1">
        <p:scale>
          <a:sx n="79" d="100"/>
          <a:sy n="79" d="100"/>
        </p:scale>
        <p:origin x="848" y="48"/>
      </p:cViewPr>
      <p:guideLst>
        <p:guide orient="horz" pos="1620"/>
        <p:guide pos="2880"/>
        <p:guide pos="30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customschemas.google.com/relationships/presentationmetadata" Target="metadata"/><Relationship Id="rId30" Type="http://schemas.openxmlformats.org/officeDocument/2006/relationships/theme" Target="theme/theme1.xml"/><Relationship Id="rId32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45013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8313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1E42EAF-3BD1-EBAB-F6D7-CCAFF00D0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90268D2C-7601-447C-9C46-581FF906D4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A83C802E-7ED7-2CE4-D7F0-07C4AB3882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4074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20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041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7247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13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Body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4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3" name="Google Shape;43;p25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2" name="Google Shape;62;p28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8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8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9" name="Google Shape;69;p29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9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9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0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title"/>
          </p:nvPr>
        </p:nvSpPr>
        <p:spPr>
          <a:xfrm rot="5400000">
            <a:off x="5463778" y="1371602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8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Header"/>
          <p:cNvSpPr txBox="1"/>
          <p:nvPr/>
        </p:nvSpPr>
        <p:spPr>
          <a:xfrm>
            <a:off x="500000" y="250000"/>
            <a:ext cx="8144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МИНИСТЕРСТВО НАУКИ И ВЫСШЕГО ОБРАЗОВАНИЯ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РОССИЙСКОЙ ФЕДЕРАЦИИ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ФГАОУ ВО «КАЗАНСКИЙ (ПРИВОЛЖСКИЙ) ФЕДЕРАЛЬНЫЙ УНИВЕРСИТЕТ»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ИНСТИТУТ УПРАВЛЕНИЯ, ЭКОНОМИКИ И ФИНАНСОВ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КАФЕДРА ИННОВАЦИЙ И ИНВЕСТИЦИЙ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Направление: 38.03.02 «Менеджмент»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Профиль: Бизнес-аналитика в управленческой деятельности</a:t>
            </a:r>
          </a:p>
        </p:txBody>
      </p:sp>
      <p:cxnSp>
        <p:nvCxnSpPr>
          <p:cNvPr id="103" name="Line"/>
          <p:cNvCxnSpPr/>
          <p:nvPr/>
        </p:nvCxnSpPr>
        <p:spPr>
          <a:xfrm>
            <a:off x="1100000" y="2200000"/>
            <a:ext cx="694400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sp>
        <p:nvSpPr>
          <p:cNvPr id="104" name="Topic"/>
          <p:cNvSpPr txBox="1"/>
          <p:nvPr/>
        </p:nvSpPr>
        <p:spPr>
          <a:xfrm>
            <a:off x="500000" y="2350000"/>
            <a:ext cx="814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ВЫПУСКНАЯ КВАЛИФИКАЦИОННАЯ РАБОТА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ИННОВАЦИОННОГО ПРОДУКТА FACE2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 БАРС БАНКА</a:t>
            </a:r>
          </a:p>
        </p:txBody>
      </p:sp>
      <p:sp>
        <p:nvSpPr>
          <p:cNvPr id="105" name="Student"/>
          <p:cNvSpPr txBox="1"/>
          <p:nvPr/>
        </p:nvSpPr>
        <p:spPr>
          <a:xfrm>
            <a:off x="5000000" y="3700000"/>
            <a:ext cx="37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Выполнил(а):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Гайфуллина Эльвина Илфатовна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Группа: 14.5-216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Научный руководитель: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к.э.н., доцент кафедры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инноваций и инвестиций</a:t>
            </a:r>
          </a:p>
        </p:txBody>
      </p:sp>
      <p:sp>
        <p:nvSpPr>
          <p:cNvPr id="106" name="Year"/>
          <p:cNvSpPr txBox="1"/>
          <p:nvPr/>
        </p:nvSpPr>
        <p:spPr>
          <a:xfrm>
            <a:off x="0" y="4743500"/>
            <a:ext cx="9144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Казань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2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АКТУАЛЬНОСТЬ</a:t>
            </a:r>
          </a:p>
        </p:txBody>
      </p:sp>
      <p:sp>
        <p:nvSpPr>
          <p:cNvPr id="205" name="KPI1"/>
          <p:cNvSpPr/>
          <p:nvPr/>
        </p:nvSpPr>
        <p:spPr>
          <a:xfrm>
            <a:off x="105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572-ФЗ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обязательная аккредитация КБС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 декабря 2022 года</a:t>
            </a:r>
          </a:p>
        </p:txBody>
      </p:sp>
      <p:sp>
        <p:nvSpPr>
          <p:cNvPr id="206" name="KPI2"/>
          <p:cNvSpPr/>
          <p:nvPr/>
        </p:nvSpPr>
        <p:spPr>
          <a:xfrm>
            <a:off x="304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99,5 %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точность распознавания лиц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 системе Face2</a:t>
            </a:r>
          </a:p>
        </p:txBody>
      </p:sp>
      <p:sp>
        <p:nvSpPr>
          <p:cNvPr id="207" name="KPI3"/>
          <p:cNvSpPr/>
          <p:nvPr/>
        </p:nvSpPr>
        <p:spPr>
          <a:xfrm>
            <a:off x="504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5+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сотрудников АББ работают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через биометрический проход</a:t>
            </a:r>
          </a:p>
        </p:txBody>
      </p:sp>
      <p:sp>
        <p:nvSpPr>
          <p:cNvPr id="208" name="KPI4"/>
          <p:cNvSpPr/>
          <p:nvPr/>
        </p:nvSpPr>
        <p:spPr>
          <a:xfrm>
            <a:off x="703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 АББ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 конец 2025 года</a:t>
            </a:r>
          </a:p>
        </p:txBody>
      </p:sp>
      <p:sp>
        <p:nvSpPr>
          <p:cNvPr id="209" name="Body"/>
          <p:cNvSpPr txBox="1"/>
          <p:nvPr/>
        </p:nvSpPr>
        <p:spPr>
          <a:xfrm>
            <a:off x="1050000" y="2000000"/>
            <a:ext cx="79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отдельный класс цифровых инноваций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 особыми требованиями к доверию и защите данных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После 572-ФЗ обращение с биометрией возможно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только через КБС, аккредитованные Минцифры РФ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Стандартные инструменты банковской рекламы недостаточны: </a:t>
            </a:r>
            <a:r>
              <a:rPr lang="ru-RU" sz="15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требуется образовательная коммуникация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 и работа с барьерами восприятия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Face2 уже прошёл аккредитацию и сертификацию ФСБ/ФСТЭК,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но рынок сдерживается психологическими барьерами</a:t>
            </a:r>
          </a:p>
        </p:txBody>
      </p:sp>
      <p:sp>
        <p:nvSpPr>
          <p:cNvPr id="210" name="Footer"/>
          <p:cNvSpPr txBox="1"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→ Требуется специализированная стратегия продвижения биометрического продукта Face2 с учётом регуляторных и репутационных особенностей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ЦЕЛЬ И ЗАДАЧИ ИССЛЕДОВАНИЯ</a:t>
            </a:r>
          </a:p>
        </p:txBody>
      </p:sp>
      <p:sp>
        <p:nvSpPr>
          <p:cNvPr id="305" name="Goal"/>
          <p:cNvSpPr/>
          <p:nvPr/>
        </p:nvSpPr>
        <p:spPr>
          <a:xfrm>
            <a:off x="1050000" y="800000"/>
            <a:ext cx="7900000" cy="7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ЦЕЛЬ: </a:t>
            </a:r>
            <a:r>
              <a:rPr lang="ru-RU" sz="14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 биометрического продукта Face2 Ак Барс Банка как высокотехнологичного инновационного продукта повышенного риска</a:t>
            </a:r>
          </a:p>
        </p:txBody>
      </p:sp>
      <p:sp>
        <p:nvSpPr>
          <p:cNvPr id="306" name="TaskNum1"/>
          <p:cNvSpPr/>
          <p:nvPr/>
        </p:nvSpPr>
        <p:spPr>
          <a:xfrm>
            <a:off x="1050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307" name="TaskCat1"/>
          <p:cNvSpPr/>
          <p:nvPr/>
        </p:nvSpPr>
        <p:spPr>
          <a:xfrm>
            <a:off x="1050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ТЕОРИЯ</a:t>
            </a:r>
          </a:p>
        </p:txBody>
      </p:sp>
      <p:sp>
        <p:nvSpPr>
          <p:cNvPr id="308" name="TaskDesc1"/>
          <p:cNvSpPr/>
          <p:nvPr/>
        </p:nvSpPr>
        <p:spPr>
          <a:xfrm>
            <a:off x="1050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изучить теоретические основы продвижения инновационных продуктов и специфику биометрических технологий</a:t>
            </a:r>
          </a:p>
        </p:txBody>
      </p:sp>
      <p:sp>
        <p:nvSpPr>
          <p:cNvPr id="309" name="TaskNum2"/>
          <p:cNvSpPr/>
          <p:nvPr/>
        </p:nvSpPr>
        <p:spPr>
          <a:xfrm>
            <a:off x="2644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310" name="TaskCat2"/>
          <p:cNvSpPr/>
          <p:nvPr/>
        </p:nvSpPr>
        <p:spPr>
          <a:xfrm>
            <a:off x="2644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ОБЪЕКТ</a:t>
            </a:r>
          </a:p>
        </p:txBody>
      </p:sp>
      <p:sp>
        <p:nvSpPr>
          <p:cNvPr id="311" name="TaskDesc2"/>
          <p:cNvSpPr/>
          <p:nvPr/>
        </p:nvSpPr>
        <p:spPr>
          <a:xfrm>
            <a:off x="2644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охарактеризовать Ак Барс Банк и продукт Face2 как объект продвижения, оценить ресурсную базу</a:t>
            </a:r>
          </a:p>
        </p:txBody>
      </p:sp>
      <p:sp>
        <p:nvSpPr>
          <p:cNvPr id="312" name="TaskNum3"/>
          <p:cNvSpPr/>
          <p:nvPr/>
        </p:nvSpPr>
        <p:spPr>
          <a:xfrm>
            <a:off x="4238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13" name="TaskCat3"/>
          <p:cNvSpPr/>
          <p:nvPr/>
        </p:nvSpPr>
        <p:spPr>
          <a:xfrm>
            <a:off x="4238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РЫНОК</a:t>
            </a:r>
          </a:p>
        </p:txBody>
      </p:sp>
      <p:sp>
        <p:nvSpPr>
          <p:cNvPr id="314" name="TaskDesc3"/>
          <p:cNvSpPr/>
          <p:nvPr/>
        </p:nvSpPr>
        <p:spPr>
          <a:xfrm>
            <a:off x="4238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проанализировать рынок биометрии, конкурентную среду и текущее продвижение Face2</a:t>
            </a:r>
          </a:p>
        </p:txBody>
      </p:sp>
      <p:sp>
        <p:nvSpPr>
          <p:cNvPr id="315" name="TaskNum4"/>
          <p:cNvSpPr/>
          <p:nvPr/>
        </p:nvSpPr>
        <p:spPr>
          <a:xfrm>
            <a:off x="5832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316" name="TaskCat4"/>
          <p:cNvSpPr/>
          <p:nvPr/>
        </p:nvSpPr>
        <p:spPr>
          <a:xfrm>
            <a:off x="5832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СТРАТЕГИЯ</a:t>
            </a:r>
          </a:p>
        </p:txBody>
      </p:sp>
      <p:sp>
        <p:nvSpPr>
          <p:cNvPr id="317" name="TaskDesc4"/>
          <p:cNvSpPr/>
          <p:nvPr/>
        </p:nvSpPr>
        <p:spPr>
          <a:xfrm>
            <a:off x="5832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разработать стратегию продвижения Face2 и комплекс маркетинговых мероприятий</a:t>
            </a:r>
          </a:p>
        </p:txBody>
      </p:sp>
      <p:sp>
        <p:nvSpPr>
          <p:cNvPr id="318" name="TaskNum5"/>
          <p:cNvSpPr/>
          <p:nvPr/>
        </p:nvSpPr>
        <p:spPr>
          <a:xfrm>
            <a:off x="7426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319" name="TaskCat5"/>
          <p:cNvSpPr/>
          <p:nvPr/>
        </p:nvSpPr>
        <p:spPr>
          <a:xfrm>
            <a:off x="7426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ОЦЕНКА</a:t>
            </a:r>
          </a:p>
        </p:txBody>
      </p:sp>
      <p:sp>
        <p:nvSpPr>
          <p:cNvPr id="320" name="TaskDesc5"/>
          <p:cNvSpPr/>
          <p:nvPr/>
        </p:nvSpPr>
        <p:spPr>
          <a:xfrm>
            <a:off x="7426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оценить эффективность предложенной стратегии и риски её реализации</a:t>
            </a:r>
          </a:p>
        </p:txBody>
      </p:sp>
      <p:sp>
        <p:nvSpPr>
          <p:cNvPr id="321" name="Note"/>
          <p:cNvSpPr txBox="1"/>
          <p:nvPr/>
        </p:nvSpPr>
        <p:spPr>
          <a:xfrm>
            <a:off x="1050000" y="4550000"/>
            <a:ext cx="7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i="1" dirty="0">
                <a:solidFill>
                  <a:srgbClr val="888888"/>
                </a:solidFill>
                <a:latin typeface="PT Sans"/>
                <a:ea typeface="PT Sans"/>
                <a:cs typeface="PT Sans"/>
              </a:rPr>
              <a:t>* в соответствии с Положением о ВКР ИиИ — не более 5 задач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4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1: ТЕОРЕТИЧЕСКАЯ БАЗА</a:t>
            </a:r>
          </a:p>
        </p:txBody>
      </p:sp>
      <p:sp>
        <p:nvSpPr>
          <p:cNvPr id="4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</a:t>
            </a:r>
          </a:p>
        </p:txBody>
      </p:sp>
      <p:sp>
        <p:nvSpPr>
          <p:cNvPr id="406" name="Feat1H"/>
          <p:cNvSpPr/>
          <p:nvPr/>
        </p:nvSpPr>
        <p:spPr>
          <a:xfrm>
            <a:off x="1050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НОВИЗНА</a:t>
            </a:r>
          </a:p>
        </p:txBody>
      </p:sp>
      <p:sp>
        <p:nvSpPr>
          <p:cNvPr id="407" name="Feat1D"/>
          <p:cNvSpPr/>
          <p:nvPr/>
        </p:nvSpPr>
        <p:spPr>
          <a:xfrm>
            <a:off x="1050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качественно новые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характеристики</a:t>
            </a:r>
          </a:p>
        </p:txBody>
      </p:sp>
      <p:sp>
        <p:nvSpPr>
          <p:cNvPr id="408" name="Feat2H"/>
          <p:cNvSpPr/>
          <p:nvPr/>
        </p:nvSpPr>
        <p:spPr>
          <a:xfrm>
            <a:off x="2642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ТЕХНОЛО-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ГИЧНОСТЬ</a:t>
            </a:r>
          </a:p>
        </p:txBody>
      </p:sp>
      <p:sp>
        <p:nvSpPr>
          <p:cNvPr id="409" name="Feat2D"/>
          <p:cNvSpPr/>
          <p:nvPr/>
        </p:nvSpPr>
        <p:spPr>
          <a:xfrm>
            <a:off x="2642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компьютерное зрение,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ИИ, криптозащита</a:t>
            </a:r>
          </a:p>
        </p:txBody>
      </p:sp>
      <p:sp>
        <p:nvSpPr>
          <p:cNvPr id="410" name="Feat3H"/>
          <p:cNvSpPr/>
          <p:nvPr/>
        </p:nvSpPr>
        <p:spPr>
          <a:xfrm>
            <a:off x="4234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ЦЕННОСТЬ</a:t>
            </a:r>
          </a:p>
        </p:txBody>
      </p:sp>
      <p:sp>
        <p:nvSpPr>
          <p:cNvPr id="411" name="Feat3D"/>
          <p:cNvSpPr/>
          <p:nvPr/>
        </p:nvSpPr>
        <p:spPr>
          <a:xfrm>
            <a:off x="4234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и доступ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карт и документов</a:t>
            </a:r>
          </a:p>
        </p:txBody>
      </p:sp>
      <p:sp>
        <p:nvSpPr>
          <p:cNvPr id="412" name="Feat4H"/>
          <p:cNvSpPr/>
          <p:nvPr/>
        </p:nvSpPr>
        <p:spPr>
          <a:xfrm>
            <a:off x="5826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КОНКУРЕНТО-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СПОСОБНОСТЬ</a:t>
            </a:r>
          </a:p>
        </p:txBody>
      </p:sp>
      <p:sp>
        <p:nvSpPr>
          <p:cNvPr id="413" name="Feat4D"/>
          <p:cNvSpPr/>
          <p:nvPr/>
        </p:nvSpPr>
        <p:spPr>
          <a:xfrm>
            <a:off x="5826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Минцифры</a:t>
            </a:r>
          </a:p>
        </p:txBody>
      </p:sp>
      <p:sp>
        <p:nvSpPr>
          <p:cNvPr id="414" name="Feat5H"/>
          <p:cNvSpPr/>
          <p:nvPr/>
        </p:nvSpPr>
        <p:spPr>
          <a:xfrm>
            <a:off x="7418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ПОВЫШЕННЫЙ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РИСК</a:t>
            </a:r>
          </a:p>
        </p:txBody>
      </p:sp>
      <p:sp>
        <p:nvSpPr>
          <p:cNvPr id="415" name="Feat5D"/>
          <p:cNvSpPr/>
          <p:nvPr/>
        </p:nvSpPr>
        <p:spPr>
          <a:xfrm>
            <a:off x="7418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регуляторный, репутационный,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416" name="LeftCol"/>
          <p:cNvSpPr txBox="1"/>
          <p:nvPr/>
        </p:nvSpPr>
        <p:spPr>
          <a:xfrm>
            <a:off x="1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Чем биометрия отличается от других банковских инноваций: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особо чувствительные персональные данные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жёсткий нормативный контур (572-ФЗ, ФСБ, ФСТЭК)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психологические барьеры пользователей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биометрический образец нельзя «отозвать»</a:t>
            </a:r>
          </a:p>
        </p:txBody>
      </p:sp>
      <p:sp>
        <p:nvSpPr>
          <p:cNvPr id="417" name="RightCol"/>
          <p:cNvSpPr txBox="1"/>
          <p:nvPr/>
        </p:nvSpPr>
        <p:spPr>
          <a:xfrm>
            <a:off x="5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Что это означает для продвижения: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информирования и стимулирования спроса </a:t>
            </a: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недостаточно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обязательна образовательная коммуникация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систематическая работа с возражениями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демонстрация мер защиты данных и правовой основы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5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2: АК БАРС БАНК И FACE2</a:t>
            </a:r>
          </a:p>
        </p:txBody>
      </p:sp>
      <p:sp>
        <p:nvSpPr>
          <p:cNvPr id="505" name="BankKPI1"/>
          <p:cNvSpPr/>
          <p:nvPr/>
        </p:nvSpPr>
        <p:spPr>
          <a:xfrm>
            <a:off x="105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6" name="BankKPI2"/>
          <p:cNvSpPr/>
          <p:nvPr/>
        </p:nvSpPr>
        <p:spPr>
          <a:xfrm>
            <a:off x="286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15,7 млрд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прибыль за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7" name="BankKPI3"/>
          <p:cNvSpPr/>
          <p:nvPr/>
        </p:nvSpPr>
        <p:spPr>
          <a:xfrm>
            <a:off x="105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934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розничных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клиентов</a:t>
            </a:r>
          </a:p>
        </p:txBody>
      </p:sp>
      <p:sp>
        <p:nvSpPr>
          <p:cNvPr id="508" name="BankKPI4"/>
          <p:cNvSpPr/>
          <p:nvPr/>
        </p:nvSpPr>
        <p:spPr>
          <a:xfrm>
            <a:off x="286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A(RU)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рейтинг АКРА,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стабильный</a:t>
            </a:r>
          </a:p>
        </p:txBody>
      </p:sp>
      <p:sp>
        <p:nvSpPr>
          <p:cNvPr id="509" name="BankCaption"/>
          <p:cNvSpPr txBox="1"/>
          <p:nvPr/>
        </p:nvSpPr>
        <p:spPr>
          <a:xfrm>
            <a:off x="1050000" y="2470000"/>
            <a:ext cx="356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 Барс Банк: крупный региональный игрок</a:t>
            </a:r>
          </a:p>
        </p:txBody>
      </p:sp>
      <p:sp>
        <p:nvSpPr>
          <p:cNvPr id="510" name="TimelineTitle"/>
          <p:cNvSpPr txBox="1"/>
          <p:nvPr/>
        </p:nvSpPr>
        <p:spPr>
          <a:xfrm>
            <a:off x="4860000" y="850000"/>
            <a:ext cx="409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ХРОНОЛОГИЯ FACE2 — от внутреннего эксперимента к рынку</a:t>
            </a:r>
          </a:p>
        </p:txBody>
      </p:sp>
      <p:cxnSp>
        <p:nvCxnSpPr>
          <p:cNvPr id="511" name="Line"/>
          <p:cNvCxnSpPr/>
          <p:nvPr/>
        </p:nvCxnSpPr>
        <p:spPr>
          <a:xfrm>
            <a:off x="4960000" y="1550000"/>
            <a:ext cx="3890000" cy="0"/>
          </a:xfrm>
          <a:prstGeom prst="line">
            <a:avLst/>
          </a:prstGeom>
          <a:ln w="19050">
            <a:solidFill>
              <a:srgbClr val="17365D"/>
            </a:solidFill>
          </a:ln>
        </p:spPr>
      </p:cxnSp>
      <p:sp>
        <p:nvSpPr>
          <p:cNvPr id="512" name="Dot2019"/>
          <p:cNvSpPr/>
          <p:nvPr/>
        </p:nvSpPr>
        <p:spPr>
          <a:xfrm>
            <a:off x="486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3" name="Year2019"/>
          <p:cNvSpPr txBox="1"/>
          <p:nvPr/>
        </p:nvSpPr>
        <p:spPr>
          <a:xfrm>
            <a:off x="461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2019</a:t>
            </a:r>
          </a:p>
        </p:txBody>
      </p:sp>
      <p:sp>
        <p:nvSpPr>
          <p:cNvPr id="514" name="YearDesc2019"/>
          <p:cNvSpPr txBox="1"/>
          <p:nvPr/>
        </p:nvSpPr>
        <p:spPr>
          <a:xfrm>
            <a:off x="436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Тестовый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проект в офисах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АББ</a:t>
            </a:r>
          </a:p>
        </p:txBody>
      </p:sp>
      <p:sp>
        <p:nvSpPr>
          <p:cNvPr id="515" name="Dot2022"/>
          <p:cNvSpPr/>
          <p:nvPr/>
        </p:nvSpPr>
        <p:spPr>
          <a:xfrm>
            <a:off x="5832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6" name="Year2022"/>
          <p:cNvSpPr txBox="1"/>
          <p:nvPr/>
        </p:nvSpPr>
        <p:spPr>
          <a:xfrm>
            <a:off x="5582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2022</a:t>
            </a:r>
          </a:p>
        </p:txBody>
      </p:sp>
      <p:sp>
        <p:nvSpPr>
          <p:cNvPr id="517" name="YearDesc2022"/>
          <p:cNvSpPr txBox="1"/>
          <p:nvPr/>
        </p:nvSpPr>
        <p:spPr>
          <a:xfrm>
            <a:off x="5332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Бренд Face2,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доступ 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библиотеки</a:t>
            </a:r>
          </a:p>
        </p:txBody>
      </p:sp>
      <p:sp>
        <p:nvSpPr>
          <p:cNvPr id="518" name="Dot2023"/>
          <p:cNvSpPr/>
          <p:nvPr/>
        </p:nvSpPr>
        <p:spPr>
          <a:xfrm>
            <a:off x="6805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9" name="Year2023"/>
          <p:cNvSpPr txBox="1"/>
          <p:nvPr/>
        </p:nvSpPr>
        <p:spPr>
          <a:xfrm>
            <a:off x="6555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2023</a:t>
            </a:r>
          </a:p>
        </p:txBody>
      </p:sp>
      <p:sp>
        <p:nvSpPr>
          <p:cNvPr id="520" name="YearDesc2023"/>
          <p:cNvSpPr txBox="1"/>
          <p:nvPr/>
        </p:nvSpPr>
        <p:spPr>
          <a:xfrm>
            <a:off x="6305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КБС, аккредитация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Минцифры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№ 4-А</a:t>
            </a:r>
          </a:p>
        </p:txBody>
      </p:sp>
      <p:sp>
        <p:nvSpPr>
          <p:cNvPr id="521" name="Dot2024"/>
          <p:cNvSpPr/>
          <p:nvPr/>
        </p:nvSpPr>
        <p:spPr>
          <a:xfrm>
            <a:off x="7777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2" name="Year2024"/>
          <p:cNvSpPr txBox="1"/>
          <p:nvPr/>
        </p:nvSpPr>
        <p:spPr>
          <a:xfrm>
            <a:off x="7527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2024</a:t>
            </a:r>
          </a:p>
        </p:txBody>
      </p:sp>
      <p:sp>
        <p:nvSpPr>
          <p:cNvPr id="523" name="YearDesc2024"/>
          <p:cNvSpPr txBox="1"/>
          <p:nvPr/>
        </p:nvSpPr>
        <p:spPr>
          <a:xfrm>
            <a:off x="7277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по лицу,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казанское метро,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СБП</a:t>
            </a:r>
          </a:p>
        </p:txBody>
      </p:sp>
      <p:sp>
        <p:nvSpPr>
          <p:cNvPr id="524" name="Dot2025"/>
          <p:cNvSpPr/>
          <p:nvPr/>
        </p:nvSpPr>
        <p:spPr>
          <a:xfrm>
            <a:off x="875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5" name="Year2025"/>
          <p:cNvSpPr txBox="1"/>
          <p:nvPr/>
        </p:nvSpPr>
        <p:spPr>
          <a:xfrm>
            <a:off x="850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2025</a:t>
            </a:r>
          </a:p>
        </p:txBody>
      </p:sp>
      <p:sp>
        <p:nvSpPr>
          <p:cNvPr id="526" name="YearDesc2025"/>
          <p:cNvSpPr txBox="1"/>
          <p:nvPr/>
        </p:nvSpPr>
        <p:spPr>
          <a:xfrm>
            <a:off x="825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Подтверждение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возраста, отели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паспорта</a:t>
            </a:r>
          </a:p>
        </p:txBody>
      </p:sp>
      <p:sp>
        <p:nvSpPr>
          <p:cNvPr id="527" name="LineupTitle"/>
          <p:cNvSpPr txBox="1"/>
          <p:nvPr/>
        </p:nvSpPr>
        <p:spPr>
          <a:xfrm>
            <a:off x="1050000" y="31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ЛИНЕЙКА ПРОДУКТОВ FACE2</a:t>
            </a:r>
          </a:p>
        </p:txBody>
      </p:sp>
      <p:sp>
        <p:nvSpPr>
          <p:cNvPr id="528" name="Product1"/>
          <p:cNvSpPr/>
          <p:nvPr/>
        </p:nvSpPr>
        <p:spPr>
          <a:xfrm>
            <a:off x="1050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Face2Pay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оплата по лицу, биоэквайринг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ритейл, вендинг, метро</a:t>
            </a:r>
          </a:p>
        </p:txBody>
      </p:sp>
      <p:sp>
        <p:nvSpPr>
          <p:cNvPr id="529" name="Product2"/>
          <p:cNvSpPr/>
          <p:nvPr/>
        </p:nvSpPr>
        <p:spPr>
          <a:xfrm>
            <a:off x="3042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Face2Pass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контроль доступа и СКУД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заводы, офисы, ВУЗы, склады</a:t>
            </a:r>
          </a:p>
        </p:txBody>
      </p:sp>
      <p:sp>
        <p:nvSpPr>
          <p:cNvPr id="530" name="Product3"/>
          <p:cNvSpPr/>
          <p:nvPr/>
        </p:nvSpPr>
        <p:spPr>
          <a:xfrm>
            <a:off x="5035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Face2Check-in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подтверждение возраста и личности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аэропорты, спортобъекты, отели</a:t>
            </a:r>
          </a:p>
        </p:txBody>
      </p:sp>
      <p:sp>
        <p:nvSpPr>
          <p:cNvPr id="531" name="Product4"/>
          <p:cNvSpPr/>
          <p:nvPr/>
        </p:nvSpPr>
        <p:spPr>
          <a:xfrm>
            <a:off x="7027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КБС под ключ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полная коммерческая биосистема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госкорпорации, крупные федералы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6</a:t>
            </a:r>
          </a:p>
        </p:txBody>
      </p:sp>
      <p:sp>
        <p:nvSpPr>
          <p:cNvPr id="6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3: РЫНОК И КОНКУРЕНТЫ</a:t>
            </a:r>
          </a:p>
        </p:txBody>
      </p:sp>
      <p:sp>
        <p:nvSpPr>
          <p:cNvPr id="6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После 572-ФЗ конкурентный рынок ограничен — поле разделено между аккредитованными КБС</a:t>
            </a:r>
          </a:p>
        </p:txBody>
      </p:sp>
      <p:sp>
        <p:nvSpPr>
          <p:cNvPr id="606" name="H0"/>
          <p:cNvSpPr/>
          <p:nvPr/>
        </p:nvSpPr>
        <p:spPr>
          <a:xfrm>
            <a:off x="1050000" y="1200000"/>
            <a:ext cx="22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Критерий</a:t>
            </a:r>
          </a:p>
        </p:txBody>
      </p:sp>
      <p:sp>
        <p:nvSpPr>
          <p:cNvPr id="607" name="H1"/>
          <p:cNvSpPr/>
          <p:nvPr/>
        </p:nvSpPr>
        <p:spPr>
          <a:xfrm>
            <a:off x="325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 АББ</a:t>
            </a:r>
          </a:p>
        </p:txBody>
      </p:sp>
      <p:sp>
        <p:nvSpPr>
          <p:cNvPr id="608" name="H2"/>
          <p:cNvSpPr/>
          <p:nvPr/>
        </p:nvSpPr>
        <p:spPr>
          <a:xfrm>
            <a:off x="467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СБЕР</a:t>
            </a:r>
          </a:p>
        </p:txBody>
      </p:sp>
      <p:sp>
        <p:nvSpPr>
          <p:cNvPr id="609" name="H3"/>
          <p:cNvSpPr/>
          <p:nvPr/>
        </p:nvSpPr>
        <p:spPr>
          <a:xfrm>
            <a:off x="610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VISIONLABS</a:t>
            </a:r>
          </a:p>
        </p:txBody>
      </p:sp>
      <p:sp>
        <p:nvSpPr>
          <p:cNvPr id="610" name="H4"/>
          <p:cNvSpPr/>
          <p:nvPr/>
        </p:nvSpPr>
        <p:spPr>
          <a:xfrm>
            <a:off x="752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OVISION</a:t>
            </a:r>
          </a:p>
        </p:txBody>
      </p:sp>
      <p:sp>
        <p:nvSpPr>
          <p:cNvPr id="611" name="R0C0"/>
          <p:cNvSpPr/>
          <p:nvPr/>
        </p:nvSpPr>
        <p:spPr>
          <a:xfrm>
            <a:off x="1050000" y="158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Аккредитация КБС Минцифры РФ</a:t>
            </a:r>
          </a:p>
        </p:txBody>
      </p:sp>
      <p:sp>
        <p:nvSpPr>
          <p:cNvPr id="612" name="R0C1"/>
          <p:cNvSpPr/>
          <p:nvPr/>
        </p:nvSpPr>
        <p:spPr>
          <a:xfrm>
            <a:off x="3250000" y="15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№ 4-А (2023)</a:t>
            </a:r>
          </a:p>
        </p:txBody>
      </p:sp>
      <p:sp>
        <p:nvSpPr>
          <p:cNvPr id="613" name="R0C2"/>
          <p:cNvSpPr/>
          <p:nvPr/>
        </p:nvSpPr>
        <p:spPr>
          <a:xfrm>
            <a:off x="467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4" name="R0C3"/>
          <p:cNvSpPr/>
          <p:nvPr/>
        </p:nvSpPr>
        <p:spPr>
          <a:xfrm>
            <a:off x="6100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5" name="R0C4"/>
          <p:cNvSpPr/>
          <p:nvPr/>
        </p:nvSpPr>
        <p:spPr>
          <a:xfrm>
            <a:off x="752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6" name="R1C0"/>
          <p:cNvSpPr/>
          <p:nvPr/>
        </p:nvSpPr>
        <p:spPr>
          <a:xfrm>
            <a:off x="1050000" y="196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 / ФСТЭК</a:t>
            </a:r>
          </a:p>
        </p:txBody>
      </p:sp>
      <p:sp>
        <p:nvSpPr>
          <p:cNvPr id="617" name="R1C1"/>
          <p:cNvSpPr/>
          <p:nvPr/>
        </p:nvSpPr>
        <p:spPr>
          <a:xfrm>
            <a:off x="3250000" y="19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8" name="R1C2"/>
          <p:cNvSpPr/>
          <p:nvPr/>
        </p:nvSpPr>
        <p:spPr>
          <a:xfrm>
            <a:off x="467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9" name="R1C3"/>
          <p:cNvSpPr/>
          <p:nvPr/>
        </p:nvSpPr>
        <p:spPr>
          <a:xfrm>
            <a:off x="6100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0" name="R1C4"/>
          <p:cNvSpPr/>
          <p:nvPr/>
        </p:nvSpPr>
        <p:spPr>
          <a:xfrm>
            <a:off x="752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1" name="R2C0"/>
          <p:cNvSpPr/>
          <p:nvPr/>
        </p:nvSpPr>
        <p:spPr>
          <a:xfrm>
            <a:off x="1050000" y="234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отечественного ПО</a:t>
            </a:r>
          </a:p>
        </p:txBody>
      </p:sp>
      <p:sp>
        <p:nvSpPr>
          <p:cNvPr id="622" name="R2C1"/>
          <p:cNvSpPr/>
          <p:nvPr/>
        </p:nvSpPr>
        <p:spPr>
          <a:xfrm>
            <a:off x="3250000" y="234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3" name="R2C2"/>
          <p:cNvSpPr/>
          <p:nvPr/>
        </p:nvSpPr>
        <p:spPr>
          <a:xfrm>
            <a:off x="467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4" name="R2C3"/>
          <p:cNvSpPr/>
          <p:nvPr/>
        </p:nvSpPr>
        <p:spPr>
          <a:xfrm>
            <a:off x="6100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5" name="R2C4"/>
          <p:cNvSpPr/>
          <p:nvPr/>
        </p:nvSpPr>
        <p:spPr>
          <a:xfrm>
            <a:off x="752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6" name="R3C0"/>
          <p:cNvSpPr/>
          <p:nvPr/>
        </p:nvSpPr>
        <p:spPr>
          <a:xfrm>
            <a:off x="1050000" y="272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Собственный оператор биометрии</a:t>
            </a:r>
          </a:p>
        </p:txBody>
      </p:sp>
      <p:sp>
        <p:nvSpPr>
          <p:cNvPr id="627" name="R3C1"/>
          <p:cNvSpPr/>
          <p:nvPr/>
        </p:nvSpPr>
        <p:spPr>
          <a:xfrm>
            <a:off x="3250000" y="272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8" name="R3C2"/>
          <p:cNvSpPr/>
          <p:nvPr/>
        </p:nvSpPr>
        <p:spPr>
          <a:xfrm>
            <a:off x="467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9" name="R3C3"/>
          <p:cNvSpPr/>
          <p:nvPr/>
        </p:nvSpPr>
        <p:spPr>
          <a:xfrm>
            <a:off x="6100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0" name="R3C4"/>
          <p:cNvSpPr/>
          <p:nvPr/>
        </p:nvSpPr>
        <p:spPr>
          <a:xfrm>
            <a:off x="752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1" name="R4C0"/>
          <p:cNvSpPr/>
          <p:nvPr/>
        </p:nvSpPr>
        <p:spPr>
          <a:xfrm>
            <a:off x="1050000" y="310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Линейка для B2B (СКУД, эквайринг)</a:t>
            </a:r>
          </a:p>
        </p:txBody>
      </p:sp>
      <p:sp>
        <p:nvSpPr>
          <p:cNvPr id="632" name="R4C1"/>
          <p:cNvSpPr/>
          <p:nvPr/>
        </p:nvSpPr>
        <p:spPr>
          <a:xfrm>
            <a:off x="3250000" y="310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Pay/Pass/Check</a:t>
            </a:r>
          </a:p>
        </p:txBody>
      </p:sp>
      <p:sp>
        <p:nvSpPr>
          <p:cNvPr id="633" name="R4C2"/>
          <p:cNvSpPr/>
          <p:nvPr/>
        </p:nvSpPr>
        <p:spPr>
          <a:xfrm>
            <a:off x="467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полная</a:t>
            </a:r>
          </a:p>
        </p:txBody>
      </p:sp>
      <p:sp>
        <p:nvSpPr>
          <p:cNvPr id="634" name="R4C3"/>
          <p:cNvSpPr/>
          <p:nvPr/>
        </p:nvSpPr>
        <p:spPr>
          <a:xfrm>
            <a:off x="6100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Luna SDK</a:t>
            </a:r>
          </a:p>
        </p:txBody>
      </p:sp>
      <p:sp>
        <p:nvSpPr>
          <p:cNvPr id="635" name="R4C4"/>
          <p:cNvSpPr/>
          <p:nvPr/>
        </p:nvSpPr>
        <p:spPr>
          <a:xfrm>
            <a:off x="752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СКУД, эквайринг</a:t>
            </a:r>
          </a:p>
        </p:txBody>
      </p:sp>
      <p:sp>
        <p:nvSpPr>
          <p:cNvPr id="636" name="R5C0"/>
          <p:cNvSpPr/>
          <p:nvPr/>
        </p:nvSpPr>
        <p:spPr>
          <a:xfrm>
            <a:off x="1050000" y="348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Региональная привязка</a:t>
            </a:r>
          </a:p>
        </p:txBody>
      </p:sp>
      <p:sp>
        <p:nvSpPr>
          <p:cNvPr id="637" name="R5C1"/>
          <p:cNvSpPr/>
          <p:nvPr/>
        </p:nvSpPr>
        <p:spPr>
          <a:xfrm>
            <a:off x="3250000" y="34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Татарстан</a:t>
            </a:r>
          </a:p>
        </p:txBody>
      </p:sp>
      <p:sp>
        <p:nvSpPr>
          <p:cNvPr id="638" name="R5C2"/>
          <p:cNvSpPr/>
          <p:nvPr/>
        </p:nvSpPr>
        <p:spPr>
          <a:xfrm>
            <a:off x="467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39" name="R5C3"/>
          <p:cNvSpPr/>
          <p:nvPr/>
        </p:nvSpPr>
        <p:spPr>
          <a:xfrm>
            <a:off x="6100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0" name="R5C4"/>
          <p:cNvSpPr/>
          <p:nvPr/>
        </p:nvSpPr>
        <p:spPr>
          <a:xfrm>
            <a:off x="752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1" name="R6C0"/>
          <p:cNvSpPr/>
          <p:nvPr/>
        </p:nvSpPr>
        <p:spPr>
          <a:xfrm>
            <a:off x="1050000" y="386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Цена / референты</a:t>
            </a:r>
          </a:p>
        </p:txBody>
      </p:sp>
      <p:sp>
        <p:nvSpPr>
          <p:cNvPr id="642" name="R6C1"/>
          <p:cNvSpPr/>
          <p:nvPr/>
        </p:nvSpPr>
        <p:spPr>
          <a:xfrm>
            <a:off x="3250000" y="38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средний +</a:t>
            </a:r>
          </a:p>
        </p:txBody>
      </p:sp>
      <p:sp>
        <p:nvSpPr>
          <p:cNvPr id="643" name="R6C2"/>
          <p:cNvSpPr/>
          <p:nvPr/>
        </p:nvSpPr>
        <p:spPr>
          <a:xfrm>
            <a:off x="467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4" name="R6C3"/>
          <p:cNvSpPr/>
          <p:nvPr/>
        </p:nvSpPr>
        <p:spPr>
          <a:xfrm>
            <a:off x="6100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5" name="R6C4"/>
          <p:cNvSpPr/>
          <p:nvPr/>
        </p:nvSpPr>
        <p:spPr>
          <a:xfrm>
            <a:off x="752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средний</a:t>
            </a:r>
          </a:p>
        </p:txBody>
      </p:sp>
      <p:sp>
        <p:nvSpPr>
          <p:cNvPr id="646" name="Conclusion"/>
          <p:cNvSpPr/>
          <p:nvPr/>
        </p:nvSpPr>
        <p:spPr>
          <a:xfrm>
            <a:off x="1050000" y="4340000"/>
            <a:ext cx="7900000" cy="3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Преимущество Face2: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статус оператора биометрии у банка + ESG-рейтинг + региональная база Татарстана для пилотов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7</a:t>
            </a:r>
          </a:p>
        </p:txBody>
      </p:sp>
      <p:sp>
        <p:nvSpPr>
          <p:cNvPr id="7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4: СТРАТЕГИЯ ПРОДВИЖЕНИЯ</a:t>
            </a:r>
          </a:p>
        </p:txBody>
      </p:sp>
      <p:sp>
        <p:nvSpPr>
          <p:cNvPr id="7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Интегрированная стратегия push + pull, адаптированная под биометрию</a:t>
            </a:r>
          </a:p>
        </p:txBody>
      </p:sp>
      <p:sp>
        <p:nvSpPr>
          <p:cNvPr id="706" name="FunnelTitle"/>
          <p:cNvSpPr txBox="1"/>
          <p:nvPr/>
        </p:nvSpPr>
        <p:spPr>
          <a:xfrm>
            <a:off x="1050000" y="950000"/>
            <a:ext cx="41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ВОРОНКА С ЭТАПОМ ДОВЕРИЯ</a:t>
            </a:r>
          </a:p>
        </p:txBody>
      </p:sp>
      <p:sp>
        <p:nvSpPr>
          <p:cNvPr id="707" name="FN0"/>
          <p:cNvSpPr/>
          <p:nvPr/>
        </p:nvSpPr>
        <p:spPr>
          <a:xfrm>
            <a:off x="1050000" y="1300000"/>
            <a:ext cx="4100000" cy="570000"/>
          </a:xfrm>
          <a:prstGeom prst="trapezoid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ОСВЕДОМЛЁННОСТЬ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образовательная коммуникация</a:t>
            </a:r>
          </a:p>
        </p:txBody>
      </p:sp>
      <p:sp>
        <p:nvSpPr>
          <p:cNvPr id="708" name="FN1"/>
          <p:cNvSpPr/>
          <p:nvPr/>
        </p:nvSpPr>
        <p:spPr>
          <a:xfrm>
            <a:off x="1357500" y="1900000"/>
            <a:ext cx="348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ИНТЕРЕС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демонстрации и пилоты</a:t>
            </a:r>
          </a:p>
        </p:txBody>
      </p:sp>
      <p:sp>
        <p:nvSpPr>
          <p:cNvPr id="709" name="FN2"/>
          <p:cNvSpPr/>
          <p:nvPr/>
        </p:nvSpPr>
        <p:spPr>
          <a:xfrm>
            <a:off x="1665000" y="2500000"/>
            <a:ext cx="287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ДОВЕРИЕ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сертификация, ФСБ, 572-ФЗ</a:t>
            </a:r>
          </a:p>
        </p:txBody>
      </p:sp>
      <p:sp>
        <p:nvSpPr>
          <p:cNvPr id="710" name="FN3"/>
          <p:cNvSpPr/>
          <p:nvPr/>
        </p:nvSpPr>
        <p:spPr>
          <a:xfrm>
            <a:off x="1972500" y="3100000"/>
            <a:ext cx="225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ПРОБА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пилотные площадки и партнёры</a:t>
            </a:r>
          </a:p>
        </p:txBody>
      </p:sp>
      <p:sp>
        <p:nvSpPr>
          <p:cNvPr id="711" name="FN4"/>
          <p:cNvSpPr/>
          <p:nvPr/>
        </p:nvSpPr>
        <p:spPr>
          <a:xfrm>
            <a:off x="2280000" y="3700000"/>
            <a:ext cx="164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ВНЕДРЕНИЕ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коммерческий контракт</a:t>
            </a:r>
          </a:p>
        </p:txBody>
      </p:sp>
      <p:sp>
        <p:nvSpPr>
          <p:cNvPr id="712" name="PMixTitle"/>
          <p:cNvSpPr txBox="1"/>
          <p:nvPr/>
        </p:nvSpPr>
        <p:spPr>
          <a:xfrm>
            <a:off x="5350000" y="95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КОМПЛЕКС 7P ДЛЯ FACE2</a:t>
            </a:r>
          </a:p>
        </p:txBody>
      </p:sp>
      <p:sp>
        <p:nvSpPr>
          <p:cNvPr id="713" name="P0L"/>
          <p:cNvSpPr/>
          <p:nvPr/>
        </p:nvSpPr>
        <p:spPr>
          <a:xfrm>
            <a:off x="5350000" y="1300000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Product</a:t>
            </a:r>
          </a:p>
        </p:txBody>
      </p:sp>
      <p:sp>
        <p:nvSpPr>
          <p:cNvPr id="714" name="P0R"/>
          <p:cNvSpPr/>
          <p:nvPr/>
        </p:nvSpPr>
        <p:spPr>
          <a:xfrm>
            <a:off x="6650000" y="1300000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продуктовая линейка под B2B-сценарии</a:t>
            </a:r>
          </a:p>
        </p:txBody>
      </p:sp>
      <p:sp>
        <p:nvSpPr>
          <p:cNvPr id="715" name="P1L"/>
          <p:cNvSpPr/>
          <p:nvPr/>
        </p:nvSpPr>
        <p:spPr>
          <a:xfrm>
            <a:off x="5350000" y="1742857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Price</a:t>
            </a:r>
          </a:p>
        </p:txBody>
      </p:sp>
      <p:sp>
        <p:nvSpPr>
          <p:cNvPr id="716" name="P1R"/>
          <p:cNvSpPr/>
          <p:nvPr/>
        </p:nvSpPr>
        <p:spPr>
          <a:xfrm>
            <a:off x="6650000" y="1742857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транзакционная модель + контракт под ключ</a:t>
            </a:r>
          </a:p>
        </p:txBody>
      </p:sp>
      <p:sp>
        <p:nvSpPr>
          <p:cNvPr id="717" name="P2L"/>
          <p:cNvSpPr/>
          <p:nvPr/>
        </p:nvSpPr>
        <p:spPr>
          <a:xfrm>
            <a:off x="5350000" y="2185714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Place</a:t>
            </a:r>
          </a:p>
        </p:txBody>
      </p:sp>
      <p:sp>
        <p:nvSpPr>
          <p:cNvPr id="718" name="P2R"/>
          <p:cNvSpPr/>
          <p:nvPr/>
        </p:nvSpPr>
        <p:spPr>
          <a:xfrm>
            <a:off x="6650000" y="2185714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Татарстан → федеральные пилоты (Минцифры, НСПК)</a:t>
            </a:r>
          </a:p>
        </p:txBody>
      </p:sp>
      <p:sp>
        <p:nvSpPr>
          <p:cNvPr id="719" name="P3L"/>
          <p:cNvSpPr/>
          <p:nvPr/>
        </p:nvSpPr>
        <p:spPr>
          <a:xfrm>
            <a:off x="5350000" y="2628571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Promotion</a:t>
            </a:r>
          </a:p>
        </p:txBody>
      </p:sp>
      <p:sp>
        <p:nvSpPr>
          <p:cNvPr id="720" name="P3R"/>
          <p:cNvSpPr/>
          <p:nvPr/>
        </p:nvSpPr>
        <p:spPr>
          <a:xfrm>
            <a:off x="6650000" y="2628571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контент-маркетинг, отраслевые конференции, кейсы</a:t>
            </a:r>
          </a:p>
        </p:txBody>
      </p:sp>
      <p:sp>
        <p:nvSpPr>
          <p:cNvPr id="721" name="P4L"/>
          <p:cNvSpPr/>
          <p:nvPr/>
        </p:nvSpPr>
        <p:spPr>
          <a:xfrm>
            <a:off x="5350000" y="3071428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People</a:t>
            </a:r>
          </a:p>
        </p:txBody>
      </p:sp>
      <p:sp>
        <p:nvSpPr>
          <p:cNvPr id="722" name="P4R"/>
          <p:cNvSpPr/>
          <p:nvPr/>
        </p:nvSpPr>
        <p:spPr>
          <a:xfrm>
            <a:off x="6650000" y="3071428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интеграционная команда и сопровождение клиента</a:t>
            </a:r>
          </a:p>
        </p:txBody>
      </p:sp>
      <p:sp>
        <p:nvSpPr>
          <p:cNvPr id="723" name="P5L"/>
          <p:cNvSpPr/>
          <p:nvPr/>
        </p:nvSpPr>
        <p:spPr>
          <a:xfrm>
            <a:off x="5350000" y="3514285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Process</a:t>
            </a:r>
          </a:p>
        </p:txBody>
      </p:sp>
      <p:sp>
        <p:nvSpPr>
          <p:cNvPr id="724" name="P5R"/>
          <p:cNvSpPr/>
          <p:nvPr/>
        </p:nvSpPr>
        <p:spPr>
          <a:xfrm>
            <a:off x="6650000" y="3514285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регламент сбора биометрии через «Госуслуги»</a:t>
            </a:r>
          </a:p>
        </p:txBody>
      </p:sp>
      <p:sp>
        <p:nvSpPr>
          <p:cNvPr id="725" name="P6L"/>
          <p:cNvSpPr/>
          <p:nvPr/>
        </p:nvSpPr>
        <p:spPr>
          <a:xfrm>
            <a:off x="5350000" y="3957142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Physical evidence</a:t>
            </a:r>
          </a:p>
        </p:txBody>
      </p:sp>
      <p:sp>
        <p:nvSpPr>
          <p:cNvPr id="726" name="P6R"/>
          <p:cNvSpPr/>
          <p:nvPr/>
        </p:nvSpPr>
        <p:spPr>
          <a:xfrm>
            <a:off x="6650000" y="3957142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сертификаты ФСБ, реестр Минцифры, ESG-A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</a:t>
            </a:r>
          </a:p>
        </p:txBody>
      </p:sp>
      <p:sp>
        <p:nvSpPr>
          <p:cNvPr id="8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5: ЭФФЕКТИВНОСТЬ И РИСКИ</a:t>
            </a:r>
          </a:p>
        </p:txBody>
      </p:sp>
      <p:sp>
        <p:nvSpPr>
          <p:cNvPr id="805" name="KPITitle"/>
          <p:cNvSpPr txBox="1"/>
          <p:nvPr/>
        </p:nvSpPr>
        <p:spPr>
          <a:xfrm>
            <a:off x="1050000" y="800000"/>
            <a:ext cx="44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ЦЕЛЕВЫЕ ПОКАЗАТЕЛИ ЗА 24 МЕСЯЦА</a:t>
            </a:r>
          </a:p>
        </p:txBody>
      </p:sp>
      <p:sp>
        <p:nvSpPr>
          <p:cNvPr id="806" name="KPIH0"/>
          <p:cNvSpPr/>
          <p:nvPr/>
        </p:nvSpPr>
        <p:spPr>
          <a:xfrm>
            <a:off x="1050000" y="1200000"/>
            <a:ext cx="2400000" cy="36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Метрика</a:t>
            </a:r>
          </a:p>
        </p:txBody>
      </p:sp>
      <p:sp>
        <p:nvSpPr>
          <p:cNvPr id="807" name="KPIH1"/>
          <p:cNvSpPr/>
          <p:nvPr/>
        </p:nvSpPr>
        <p:spPr>
          <a:xfrm>
            <a:off x="3450000" y="1200000"/>
            <a:ext cx="1100000" cy="36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</a:t>
            </a:r>
          </a:p>
        </p:txBody>
      </p:sp>
      <p:sp>
        <p:nvSpPr>
          <p:cNvPr id="808" name="KPIH2"/>
          <p:cNvSpPr/>
          <p:nvPr/>
        </p:nvSpPr>
        <p:spPr>
          <a:xfrm>
            <a:off x="4550000" y="1200000"/>
            <a:ext cx="900000" cy="36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Ед.</a:t>
            </a:r>
          </a:p>
        </p:txBody>
      </p:sp>
      <p:sp>
        <p:nvSpPr>
          <p:cNvPr id="809" name="KPI00"/>
          <p:cNvSpPr/>
          <p:nvPr/>
        </p:nvSpPr>
        <p:spPr>
          <a:xfrm>
            <a:off x="1050000" y="1560000"/>
            <a:ext cx="24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Активных B2B-контрактов</a:t>
            </a:r>
          </a:p>
        </p:txBody>
      </p:sp>
      <p:sp>
        <p:nvSpPr>
          <p:cNvPr id="810" name="KPI01"/>
          <p:cNvSpPr/>
          <p:nvPr/>
        </p:nvSpPr>
        <p:spPr>
          <a:xfrm>
            <a:off x="3450000" y="1560000"/>
            <a:ext cx="11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25</a:t>
            </a:r>
          </a:p>
        </p:txBody>
      </p:sp>
      <p:sp>
        <p:nvSpPr>
          <p:cNvPr id="811" name="KPI02"/>
          <p:cNvSpPr/>
          <p:nvPr/>
        </p:nvSpPr>
        <p:spPr>
          <a:xfrm>
            <a:off x="4550000" y="1560000"/>
            <a:ext cx="9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шт./год</a:t>
            </a:r>
          </a:p>
        </p:txBody>
      </p:sp>
      <p:sp>
        <p:nvSpPr>
          <p:cNvPr id="812" name="KPI10"/>
          <p:cNvSpPr/>
          <p:nvPr/>
        </p:nvSpPr>
        <p:spPr>
          <a:xfrm>
            <a:off x="1050000" y="1920000"/>
            <a:ext cx="24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Биометрических векторов</a:t>
            </a:r>
          </a:p>
        </p:txBody>
      </p:sp>
      <p:sp>
        <p:nvSpPr>
          <p:cNvPr id="813" name="KPI11"/>
          <p:cNvSpPr/>
          <p:nvPr/>
        </p:nvSpPr>
        <p:spPr>
          <a:xfrm>
            <a:off x="3450000" y="1920000"/>
            <a:ext cx="11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500 тыс.</a:t>
            </a:r>
          </a:p>
        </p:txBody>
      </p:sp>
      <p:sp>
        <p:nvSpPr>
          <p:cNvPr id="814" name="KPI12"/>
          <p:cNvSpPr/>
          <p:nvPr/>
        </p:nvSpPr>
        <p:spPr>
          <a:xfrm>
            <a:off x="4550000" y="1920000"/>
            <a:ext cx="9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в КБС АББ</a:t>
            </a:r>
          </a:p>
        </p:txBody>
      </p:sp>
      <p:sp>
        <p:nvSpPr>
          <p:cNvPr id="815" name="KPI20"/>
          <p:cNvSpPr/>
          <p:nvPr/>
        </p:nvSpPr>
        <p:spPr>
          <a:xfrm>
            <a:off x="1050000" y="2280000"/>
            <a:ext cx="24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Конверсия лид → пилот</a:t>
            </a:r>
          </a:p>
        </p:txBody>
      </p:sp>
      <p:sp>
        <p:nvSpPr>
          <p:cNvPr id="816" name="KPI21"/>
          <p:cNvSpPr/>
          <p:nvPr/>
        </p:nvSpPr>
        <p:spPr>
          <a:xfrm>
            <a:off x="3450000" y="2280000"/>
            <a:ext cx="11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30 %</a:t>
            </a:r>
          </a:p>
        </p:txBody>
      </p:sp>
      <p:sp>
        <p:nvSpPr>
          <p:cNvPr id="817" name="KPI22"/>
          <p:cNvSpPr/>
          <p:nvPr/>
        </p:nvSpPr>
        <p:spPr>
          <a:xfrm>
            <a:off x="4550000" y="2280000"/>
            <a:ext cx="9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/>
            </a:r>
          </a:p>
        </p:txBody>
      </p:sp>
      <p:sp>
        <p:nvSpPr>
          <p:cNvPr id="818" name="KPI30"/>
          <p:cNvSpPr/>
          <p:nvPr/>
        </p:nvSpPr>
        <p:spPr>
          <a:xfrm>
            <a:off x="1050000" y="2640000"/>
            <a:ext cx="24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Конверсия пилот → контракт</a:t>
            </a:r>
          </a:p>
        </p:txBody>
      </p:sp>
      <p:sp>
        <p:nvSpPr>
          <p:cNvPr id="819" name="KPI31"/>
          <p:cNvSpPr/>
          <p:nvPr/>
        </p:nvSpPr>
        <p:spPr>
          <a:xfrm>
            <a:off x="3450000" y="2640000"/>
            <a:ext cx="11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50 %</a:t>
            </a:r>
          </a:p>
        </p:txBody>
      </p:sp>
      <p:sp>
        <p:nvSpPr>
          <p:cNvPr id="820" name="KPI32"/>
          <p:cNvSpPr/>
          <p:nvPr/>
        </p:nvSpPr>
        <p:spPr>
          <a:xfrm>
            <a:off x="4550000" y="2640000"/>
            <a:ext cx="9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/>
            </a:r>
          </a:p>
        </p:txBody>
      </p:sp>
      <p:sp>
        <p:nvSpPr>
          <p:cNvPr id="821" name="KPI40"/>
          <p:cNvSpPr/>
          <p:nvPr/>
        </p:nvSpPr>
        <p:spPr>
          <a:xfrm>
            <a:off x="1050000" y="3000000"/>
            <a:ext cx="24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Доля рынка КБС в ПФО</a:t>
            </a:r>
          </a:p>
        </p:txBody>
      </p:sp>
      <p:sp>
        <p:nvSpPr>
          <p:cNvPr id="822" name="KPI41"/>
          <p:cNvSpPr/>
          <p:nvPr/>
        </p:nvSpPr>
        <p:spPr>
          <a:xfrm>
            <a:off x="3450000" y="3000000"/>
            <a:ext cx="11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20 %</a:t>
            </a:r>
          </a:p>
        </p:txBody>
      </p:sp>
      <p:sp>
        <p:nvSpPr>
          <p:cNvPr id="823" name="KPI42"/>
          <p:cNvSpPr/>
          <p:nvPr/>
        </p:nvSpPr>
        <p:spPr>
          <a:xfrm>
            <a:off x="4550000" y="3000000"/>
            <a:ext cx="9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/>
            </a:r>
          </a:p>
        </p:txBody>
      </p:sp>
      <p:sp>
        <p:nvSpPr>
          <p:cNvPr id="824" name="KPI50"/>
          <p:cNvSpPr/>
          <p:nvPr/>
        </p:nvSpPr>
        <p:spPr>
          <a:xfrm>
            <a:off x="1050000" y="3360000"/>
            <a:ext cx="24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ROI стратегии продвижения</a:t>
            </a:r>
          </a:p>
        </p:txBody>
      </p:sp>
      <p:sp>
        <p:nvSpPr>
          <p:cNvPr id="825" name="KPI51"/>
          <p:cNvSpPr/>
          <p:nvPr/>
        </p:nvSpPr>
        <p:spPr>
          <a:xfrm>
            <a:off x="3450000" y="3360000"/>
            <a:ext cx="11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180 %</a:t>
            </a:r>
          </a:p>
        </p:txBody>
      </p:sp>
      <p:sp>
        <p:nvSpPr>
          <p:cNvPr id="826" name="KPI52"/>
          <p:cNvSpPr/>
          <p:nvPr/>
        </p:nvSpPr>
        <p:spPr>
          <a:xfrm>
            <a:off x="4550000" y="3360000"/>
            <a:ext cx="9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за 24 мес.</a:t>
            </a:r>
          </a:p>
        </p:txBody>
      </p:sp>
      <p:sp>
        <p:nvSpPr>
          <p:cNvPr id="827" name="RiskTitle"/>
          <p:cNvSpPr txBox="1"/>
          <p:nvPr/>
        </p:nvSpPr>
        <p:spPr>
          <a:xfrm>
            <a:off x="5650000" y="800000"/>
            <a:ext cx="33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МАТРИЦА КЛЮЧЕВЫХ РИСКОВ</a:t>
            </a:r>
          </a:p>
        </p:txBody>
      </p:sp>
      <p:sp>
        <p:nvSpPr>
          <p:cNvPr id="828" name="Risk0H"/>
          <p:cNvSpPr/>
          <p:nvPr/>
        </p:nvSpPr>
        <p:spPr>
          <a:xfrm>
            <a:off x="5650000" y="1200000"/>
            <a:ext cx="1620000" cy="2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Регуляторный</a:t>
            </a:r>
          </a:p>
        </p:txBody>
      </p:sp>
      <p:sp>
        <p:nvSpPr>
          <p:cNvPr id="829" name="Risk0B"/>
          <p:cNvSpPr/>
          <p:nvPr/>
        </p:nvSpPr>
        <p:spPr>
          <a:xfrm>
            <a:off x="5650000" y="148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ужесточение 572-ФЗ, новые штрафы (420-ФЗ, 421-ФЗ)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юр. сопровождение, аудит соответствия</a:t>
            </a:r>
          </a:p>
        </p:txBody>
      </p:sp>
      <p:sp>
        <p:nvSpPr>
          <p:cNvPr id="830" name="Risk1H"/>
          <p:cNvSpPr/>
          <p:nvPr/>
        </p:nvSpPr>
        <p:spPr>
          <a:xfrm>
            <a:off x="7330000" y="1200000"/>
            <a:ext cx="1620000" cy="2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Репутационный</a:t>
            </a:r>
          </a:p>
        </p:txBody>
      </p:sp>
      <p:sp>
        <p:nvSpPr>
          <p:cNvPr id="831" name="Risk1B"/>
          <p:cNvSpPr/>
          <p:nvPr/>
        </p:nvSpPr>
        <p:spPr>
          <a:xfrm>
            <a:off x="7330000" y="148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утечка / инцидент, волна публикаций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комплаенс, мониторинг, кризис-план</a:t>
            </a:r>
          </a:p>
        </p:txBody>
      </p:sp>
      <p:sp>
        <p:nvSpPr>
          <p:cNvPr id="832" name="Risk2H"/>
          <p:cNvSpPr/>
          <p:nvPr/>
        </p:nvSpPr>
        <p:spPr>
          <a:xfrm>
            <a:off x="5650000" y="2580000"/>
            <a:ext cx="1620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833" name="Risk2B"/>
          <p:cNvSpPr/>
          <p:nvPr/>
        </p:nvSpPr>
        <p:spPr>
          <a:xfrm>
            <a:off x="5650000" y="286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сбои распознавания, ложные срабатывания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пилоты, A/B-тесты, контроль FAR/FRR</a:t>
            </a:r>
          </a:p>
        </p:txBody>
      </p:sp>
      <p:sp>
        <p:nvSpPr>
          <p:cNvPr id="834" name="Risk3H"/>
          <p:cNvSpPr/>
          <p:nvPr/>
        </p:nvSpPr>
        <p:spPr>
          <a:xfrm>
            <a:off x="7330000" y="2580000"/>
            <a:ext cx="1620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Рыночный</a:t>
            </a:r>
          </a:p>
        </p:txBody>
      </p:sp>
      <p:sp>
        <p:nvSpPr>
          <p:cNvPr id="835" name="Risk3B"/>
          <p:cNvSpPr/>
          <p:nvPr/>
        </p:nvSpPr>
        <p:spPr>
          <a:xfrm>
            <a:off x="7330000" y="286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медленная диффузия, психологические барьеры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образовательные форматы, кейсы и партнёры</a:t>
            </a:r>
          </a:p>
        </p:txBody>
      </p:sp>
      <p:sp>
        <p:nvSpPr>
          <p:cNvPr id="836" name="FinalNote"/>
          <p:cNvSpPr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Стратегия экономически эффективна при условии удержания регуляторных и репутационных рисков под контролем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10</a:t>
            </a:r>
          </a:p>
        </p:txBody>
      </p:sp>
      <p:sp>
        <p:nvSpPr>
          <p:cNvPr id="9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ВЫВОДЫ</a:t>
            </a:r>
          </a:p>
        </p:txBody>
      </p:sp>
      <p:sp>
        <p:nvSpPr>
          <p:cNvPr id="905" name="CN0"/>
          <p:cNvSpPr/>
          <p:nvPr/>
        </p:nvSpPr>
        <p:spPr>
          <a:xfrm>
            <a:off x="105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906" name="CB0"/>
          <p:cNvSpPr/>
          <p:nvPr/>
        </p:nvSpPr>
        <p:spPr>
          <a:xfrm>
            <a:off x="165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ТЕОРЕТИЧЕСКАЯ РАМКА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риска. Стандартный маркетинг не работает: требуется образовательная коммуникация и работа с барьерами доверия.</a:t>
            </a:r>
          </a:p>
        </p:txBody>
      </p:sp>
      <p:sp>
        <p:nvSpPr>
          <p:cNvPr id="907" name="CN1"/>
          <p:cNvSpPr/>
          <p:nvPr/>
        </p:nvSpPr>
        <p:spPr>
          <a:xfrm>
            <a:off x="500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908" name="CB1"/>
          <p:cNvSpPr/>
          <p:nvPr/>
        </p:nvSpPr>
        <p:spPr>
          <a:xfrm>
            <a:off x="560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ОБЪЕКТ И РЕСУРСЫ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 Барс Банк — крупный региональный игрок с активами 1,16 трлн ₽, рейтингом A(RU) и собственной аккредитованной КБС. Face2 интегрирован в стратегию банка 2022–2026.</a:t>
            </a:r>
          </a:p>
        </p:txBody>
      </p:sp>
      <p:sp>
        <p:nvSpPr>
          <p:cNvPr id="909" name="CN2"/>
          <p:cNvSpPr/>
          <p:nvPr/>
        </p:nvSpPr>
        <p:spPr>
          <a:xfrm>
            <a:off x="105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910" name="CB2"/>
          <p:cNvSpPr/>
          <p:nvPr/>
        </p:nvSpPr>
        <p:spPr>
          <a:xfrm>
            <a:off x="165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РЫНОК И ПОЗИЦИЯ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Конкурентное поле ограничено аккредитованными КБС. Преимущество Face2 — статус оператора у банка, региональная база Татарстана и первая референтная группа федерального уровня.</a:t>
            </a:r>
          </a:p>
        </p:txBody>
      </p:sp>
      <p:sp>
        <p:nvSpPr>
          <p:cNvPr id="911" name="CN3"/>
          <p:cNvSpPr/>
          <p:nvPr/>
        </p:nvSpPr>
        <p:spPr>
          <a:xfrm>
            <a:off x="500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912" name="CB3"/>
          <p:cNvSpPr/>
          <p:nvPr/>
        </p:nvSpPr>
        <p:spPr>
          <a:xfrm>
            <a:off x="560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СТРАТЕГИЯ И ЭФФЕКТ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Предложена интегрированная стратегия push + pull с маркетинговой воронкой и этапом доверия, набором 7P и комплексом мероприятий. Целевой ROI ≥ 180 % за 24 месяца.</a:t>
            </a:r>
          </a:p>
        </p:txBody>
      </p:sp>
      <p:sp>
        <p:nvSpPr>
          <p:cNvPr id="913" name="OverallNote"/>
          <p:cNvSpPr/>
          <p:nvPr/>
        </p:nvSpPr>
        <p:spPr>
          <a:xfrm>
            <a:off x="1050000" y="4540000"/>
            <a:ext cx="79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ОБЩИЙ ИТОГ: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 ВКР достигнута, разработана работоспособная стратегия продвижения Face2 как инновационного продукта повышенного риска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2" name="Thanks"/>
          <p:cNvSpPr txBox="1"/>
          <p:nvPr/>
        </p:nvSpPr>
        <p:spPr>
          <a:xfrm>
            <a:off x="0" y="1900000"/>
            <a:ext cx="9144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СПАСИБО ЗА ВНИМАНИЕ!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0" y="3000000"/>
            <a:ext cx="9144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Готова ответить на вопросы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11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8</a:t>
            </a:r>
          </a:p>
        </p:txBody>
      </p:sp>
      <p:sp>
        <p:nvSpPr>
          <p:cNvPr id="11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РЕКОМЕНДАЦИИ ПО СЕГМЕНТАМ ЦЕЛЕВОЙ АУДИТОРИИ</a:t>
            </a:r>
          </a:p>
        </p:txBody>
      </p:sp>
      <p:sp>
        <p:nvSpPr>
          <p:cNvPr id="11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Дифференцированный подход к продвижению Face2: сегменты решают разные задачи и требуют разных каналов</a:t>
            </a:r>
          </a:p>
        </p:txBody>
      </p:sp>
      <p:sp>
        <p:nvSpPr>
          <p:cNvPr id="1106" name="Seg0H"/>
          <p:cNvSpPr/>
          <p:nvPr/>
        </p:nvSpPr>
        <p:spPr>
          <a:xfrm>
            <a:off x="1050000" y="1300000"/>
            <a:ext cx="2566666" cy="4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B2B</a:t>
            </a:r>
          </a:p>
        </p:txBody>
      </p:sp>
      <p:sp>
        <p:nvSpPr>
          <p:cNvPr id="1107" name="Seg0A"/>
          <p:cNvSpPr/>
          <p:nvPr/>
        </p:nvSpPr>
        <p:spPr>
          <a:xfrm>
            <a:off x="1050000" y="1780000"/>
            <a:ext cx="2566666" cy="4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ритейл, заводы,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транспорт, интеграторы</a:t>
            </a:r>
          </a:p>
        </p:txBody>
      </p:sp>
      <p:sp>
        <p:nvSpPr>
          <p:cNvPr id="1108" name="Seg0G"/>
          <p:cNvSpPr/>
          <p:nvPr/>
        </p:nvSpPr>
        <p:spPr>
          <a:xfrm>
            <a:off x="1050000" y="2260000"/>
            <a:ext cx="2566666" cy="46000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Цель: </a:t>
            </a: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продажи КБС и линейки Face2 (Pay/Pass/Check-in)</a:t>
            </a:r>
          </a:p>
        </p:txBody>
      </p:sp>
      <p:sp>
        <p:nvSpPr>
          <p:cNvPr id="1109" name="Seg0R"/>
          <p:cNvSpPr/>
          <p:nvPr/>
        </p:nvSpPr>
        <p:spPr>
          <a:xfrm>
            <a:off x="1050000" y="2720000"/>
            <a:ext cx="2566666" cy="18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Рекомендации: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Отраслевые конференции и форумы (ФинТех, СБП, Cipher, TAdviser)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Кейсы АББ и Татарстана как референс-проекты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Партнёрства с банковскими интеграторами и НСПК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Платные пилоты и демо-стенды на площадке клиента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White papers и экспертный контент в TAdviser, Banki.ru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Прямые продажи через KAM и менеджеров по отраслям</a:t>
            </a:r>
          </a:p>
        </p:txBody>
      </p:sp>
      <p:sp>
        <p:nvSpPr>
          <p:cNvPr id="1110" name="Seg1H"/>
          <p:cNvSpPr/>
          <p:nvPr/>
        </p:nvSpPr>
        <p:spPr>
          <a:xfrm>
            <a:off x="3716666" y="1300000"/>
            <a:ext cx="2566666" cy="4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B2C</a:t>
            </a:r>
          </a:p>
        </p:txBody>
      </p:sp>
      <p:sp>
        <p:nvSpPr>
          <p:cNvPr id="1111" name="Seg1A"/>
          <p:cNvSpPr/>
          <p:nvPr/>
        </p:nvSpPr>
        <p:spPr>
          <a:xfrm>
            <a:off x="3716666" y="1780000"/>
            <a:ext cx="2566666" cy="4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Клиенты банков, пассажиры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метро, посетители ритейла</a:t>
            </a:r>
          </a:p>
        </p:txBody>
      </p:sp>
      <p:sp>
        <p:nvSpPr>
          <p:cNvPr id="1112" name="Seg1G"/>
          <p:cNvSpPr/>
          <p:nvPr/>
        </p:nvSpPr>
        <p:spPr>
          <a:xfrm>
            <a:off x="3716666" y="2260000"/>
            <a:ext cx="2566666" cy="46000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Цель: </a:t>
            </a: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снятие барьеров доверия, рост Face2Pay-аудитории</a:t>
            </a:r>
          </a:p>
        </p:txBody>
      </p:sp>
      <p:sp>
        <p:nvSpPr>
          <p:cNvPr id="1113" name="Seg1R"/>
          <p:cNvSpPr/>
          <p:nvPr/>
        </p:nvSpPr>
        <p:spPr>
          <a:xfrm>
            <a:off x="3716666" y="2720000"/>
            <a:ext cx="2566666" cy="18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Рекомендации: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Образовательный контент в ВК, Telegram, Дзен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Видео-демо в отделениях и мобильном приложении АББ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Бесшовный UX в казанском метро как образцовый кейс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Бонусы и кешбэк за оплату по лицу (Face2Pay)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Прозрачная коммуникация прав клиента по 572-ФЗ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Локальные медиа Татарстана и лидеры мнений</a:t>
            </a:r>
          </a:p>
        </p:txBody>
      </p:sp>
      <p:sp>
        <p:nvSpPr>
          <p:cNvPr id="1114" name="Seg2H"/>
          <p:cNvSpPr/>
          <p:nvPr/>
        </p:nvSpPr>
        <p:spPr>
          <a:xfrm>
            <a:off x="6383332" y="1300000"/>
            <a:ext cx="2566666" cy="4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B2G</a:t>
            </a:r>
          </a:p>
        </p:txBody>
      </p:sp>
      <p:sp>
        <p:nvSpPr>
          <p:cNvPr id="1115" name="Seg2A"/>
          <p:cNvSpPr/>
          <p:nvPr/>
        </p:nvSpPr>
        <p:spPr>
          <a:xfrm>
            <a:off x="6383332" y="1780000"/>
            <a:ext cx="2566666" cy="4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Минцифры, ЦБ РФ, регионы,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госкорпорации, ФОИВ</a:t>
            </a:r>
          </a:p>
        </p:txBody>
      </p:sp>
      <p:sp>
        <p:nvSpPr>
          <p:cNvPr id="1116" name="Seg2G"/>
          <p:cNvSpPr/>
          <p:nvPr/>
        </p:nvSpPr>
        <p:spPr>
          <a:xfrm>
            <a:off x="6383332" y="2260000"/>
            <a:ext cx="2566666" cy="46000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Цель: </a:t>
            </a: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GR-доступ к тендерам и федеральным пилотам</a:t>
            </a:r>
          </a:p>
        </p:txBody>
      </p:sp>
      <p:sp>
        <p:nvSpPr>
          <p:cNvPr id="1117" name="Seg2R"/>
          <p:cNvSpPr/>
          <p:nvPr/>
        </p:nvSpPr>
        <p:spPr>
          <a:xfrm>
            <a:off x="6383332" y="2720000"/>
            <a:ext cx="2566666" cy="18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Рекомендации: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Акцент на КБС № 4-А и реестре отечественного ПО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Импортозамещение и нацпроект «Цифровая экономика»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Совместные пилоты с Минцифры РТ и смежных регионов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Участие в РСПП, Ассоциации банков России, АРБ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Татарстан как технологический хаб биометрии в ПФО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2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Закрытые презентации на отраслевых форумах ЦБ и ФСБ</a:t>
            </a:r>
          </a:p>
        </p:txBody>
      </p:sp>
      <p:sp>
        <p:nvSpPr>
          <p:cNvPr id="1118" name="Footer"/>
          <p:cNvSpPr/>
          <p:nvPr/>
        </p:nvSpPr>
        <p:spPr>
          <a:xfrm>
            <a:off x="1050000" y="4660000"/>
            <a:ext cx="79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Сегментированный подход усиливает push + pull-стратегию: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B2B и B2G формируют контракты, B2C — массу пользователей и социальное доверие к биометрии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112</Words>
  <Application>Microsoft Office PowerPoint</Application>
  <PresentationFormat>Экран (16:9)</PresentationFormat>
  <Paragraphs>25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PT Sans</vt:lpstr>
      <vt:lpstr>Times New Roman</vt:lpstr>
      <vt:lpstr>Тема Office</vt:lpstr>
      <vt:lpstr>НАЗВАНИЕ ТЕМЫ</vt:lpstr>
      <vt:lpstr>АКТУАЛЬНОСТЬ</vt:lpstr>
      <vt:lpstr>ЦЕЛИ И ЗАДАЧИ*  *не более 5 задач</vt:lpstr>
      <vt:lpstr>РЕЗУЛЬТАТЫ ПО ЗАДАЧЕ 1</vt:lpstr>
      <vt:lpstr>РЕЗУЛЬТАТЫ ПО ЗАДАЧЕ 2</vt:lpstr>
      <vt:lpstr>РЕЗУЛЬТАТЫ ПО ЗАДАЧЕ 3</vt:lpstr>
      <vt:lpstr>РЕЗУЛЬТАТЫ ПО ЗАДАЧЕ 4</vt:lpstr>
      <vt:lpstr>РЕЗУЛЬТАТЫ ПО ЗАДАЧЕ 5</vt:lpstr>
      <vt:lpstr>ВЫВОДЫ 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ГИБКАЯ МЕТОДОЛОГИЯ УПРАВЛЕНИЯ ПРОЕКТАМИ AGILE</dc:title>
  <dc:creator>Ольга</dc:creator>
  <cp:lastModifiedBy>Михаил Кузьмин</cp:lastModifiedBy>
  <cp:revision>43</cp:revision>
  <dcterms:created xsi:type="dcterms:W3CDTF">2022-06-09T15:01:43Z</dcterms:created>
  <dcterms:modified xsi:type="dcterms:W3CDTF">2026-05-08T08:03:20Z</dcterms:modified>
</cp:coreProperties>
</file>