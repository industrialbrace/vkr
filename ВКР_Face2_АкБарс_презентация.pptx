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79" r:id="rId5"/>
    <p:sldId id="281" r:id="rId6"/>
    <p:sldId id="282" r:id="rId7"/>
    <p:sldId id="283" r:id="rId8"/>
    <p:sldId id="284" r:id="rId9"/>
    <p:sldId id="280" r:id="rId10"/>
    <p:sldId id="27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3077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if0MoI7WtcNSt+DHMGVizH6/gV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94"/>
  </p:normalViewPr>
  <p:slideViewPr>
    <p:cSldViewPr snapToGrid="0">
      <p:cViewPr varScale="1">
        <p:scale>
          <a:sx n="79" d="100"/>
          <a:sy n="79" d="100"/>
        </p:scale>
        <p:origin x="848" y="48"/>
      </p:cViewPr>
      <p:guideLst>
        <p:guide orient="horz" pos="1620"/>
        <p:guide pos="2880"/>
        <p:guide pos="30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45013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313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21E42EAF-3BD1-EBAB-F6D7-CCAFF00D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90268D2C-7601-447C-9C46-581FF906D4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A83C802E-7ED7-2CE4-D7F0-07C4AB3882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4074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8020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0041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16A7FFC9-9472-6A36-4065-9E6F7166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>
            <a:extLst>
              <a:ext uri="{FF2B5EF4-FFF2-40B4-BE49-F238E27FC236}">
                <a16:creationId xmlns:a16="http://schemas.microsoft.com/office/drawing/2014/main" id="{A6E4C98D-9496-90CD-5FD8-5E77AC622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>
            <a:extLst>
              <a:ext uri="{FF2B5EF4-FFF2-40B4-BE49-F238E27FC236}">
                <a16:creationId xmlns:a16="http://schemas.microsoft.com/office/drawing/2014/main" id="{43587522-E067-EDB0-4AB9-64455D9EE8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72470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6e7385896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56e7385896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1131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4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marL="2286000" lvl="4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marL="2743200" lvl="5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5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3" name="Google Shape;43;p25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432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1" name="Google Shape;61;p28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2" name="Google Shape;62;p2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marL="914400" lvl="1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marL="1828800" lvl="3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marL="2286000" lvl="4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marL="2743200" lvl="5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marL="3200400" lvl="6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marL="3657600" lvl="7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marL="4114800" lvl="8" indent="-228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>
            <a:endParaRPr/>
          </a:p>
        </p:txBody>
      </p:sp>
      <p:sp>
        <p:nvSpPr>
          <p:cNvPr id="69" name="Google Shape;69;p2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0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>
            <a:spLocks noGrp="1"/>
          </p:cNvSpPr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1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0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Backgrou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Header"/>
          <p:cNvSpPr txBox="1"/>
          <p:nvPr/>
        </p:nvSpPr>
        <p:spPr>
          <a:xfrm>
            <a:off x="500000" y="250000"/>
            <a:ext cx="8144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МИНИСТЕРСТВО НАУКИ И ВЫСШЕГО ОБРАЗОВАНИЯ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РОССИЙСКОЙ ФЕДЕРАЦИИ</a:t>
            </a:r>
          </a:p>
          <a:p>
            <a:pPr marL="0" lvl="0" indent="0" algn="ctr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ФГАОУ ВО «КАЗАНСКИЙ (ПРИВОЛЖСКИЙ) ФЕДЕРАЛЬНЫЙ УНИВЕРСИТЕТ»</a:t>
            </a:r>
          </a:p>
          <a:p>
            <a:pPr marL="0" lvl="0" indent="0" algn="ctr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ИНСТИТУТ УПРАВЛЕНИЯ, ЭКОНОМИКИ И ФИНАНСОВ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КАФЕДРА ИННОВАЦИЙ И ИНВЕСТИЦИЙ</a:t>
            </a:r>
          </a:p>
          <a:p>
            <a:pPr marL="0" lvl="0" indent="0" algn="ctr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Направление: 38.03.02 «Менеджмент»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Профиль: Бизнес-аналитика в управленческой деятельности</a:t>
            </a:r>
          </a:p>
        </p:txBody>
      </p:sp>
      <p:cxnSp>
        <p:nvCxnSpPr>
          <p:cNvPr id="103" name="Line"/>
          <p:cNvCxnSpPr/>
          <p:nvPr/>
        </p:nvCxnSpPr>
        <p:spPr>
          <a:xfrm>
            <a:off x="1100000" y="2200000"/>
            <a:ext cx="6944000" cy="0"/>
          </a:xfrm>
          <a:prstGeom prst="line">
            <a:avLst/>
          </a:prstGeom>
          <a:ln w="38100">
            <a:solidFill>
              <a:srgbClr val="FFFFFF"/>
            </a:solidFill>
          </a:ln>
        </p:spPr>
      </p:cxnSp>
      <p:sp>
        <p:nvSpPr>
          <p:cNvPr id="104" name="Topic"/>
          <p:cNvSpPr txBox="1"/>
          <p:nvPr/>
        </p:nvSpPr>
        <p:spPr>
          <a:xfrm>
            <a:off x="500000" y="2350000"/>
            <a:ext cx="8144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ВЫПУСКНАЯ КВАЛИФИКАЦИОННАЯ РАБОТА</a:t>
            </a:r>
          </a:p>
          <a:p>
            <a:pPr marL="0" lvl="0" indent="0" algn="ctr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РАЗРАБОТКА СТРАТЕГИИ ПРОДВИЖЕНИЯ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ИННОВАЦИОННОГО ПРОДУКТА FACE2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АК БАРС БАНКА</a:t>
            </a:r>
          </a:p>
        </p:txBody>
      </p:sp>
      <p:sp>
        <p:nvSpPr>
          <p:cNvPr id="105" name="Student"/>
          <p:cNvSpPr txBox="1"/>
          <p:nvPr/>
        </p:nvSpPr>
        <p:spPr>
          <a:xfrm>
            <a:off x="5000000" y="3700000"/>
            <a:ext cx="37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Выполнил(а):</a:t>
            </a:r>
          </a:p>
          <a:p>
            <a:pPr marL="0" lvl="0" indent="0" algn="l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Гайфуллина Эльвина Илфатовна</a:t>
            </a:r>
          </a:p>
          <a:p>
            <a:pPr marL="0" lvl="0" indent="0" algn="l" rtl="0">
              <a:lnSpc>
                <a:spcPct val="110000"/>
              </a:lnSpc>
              <a:spcBef>
                <a:spcPts val="12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Группа: 14.5-216</a:t>
            </a: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Научный руководитель: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к.э.н., доцент кафедры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инноваций и инвестиций</a:t>
            </a:r>
          </a:p>
        </p:txBody>
      </p:sp>
      <p:sp>
        <p:nvSpPr>
          <p:cNvPr id="106" name="Year"/>
          <p:cNvSpPr txBox="1"/>
          <p:nvPr/>
        </p:nvSpPr>
        <p:spPr>
          <a:xfrm>
            <a:off x="0" y="4743500"/>
            <a:ext cx="9144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Казань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Stri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KFU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SlideNumber"/>
          <p:cNvSpPr txBox="1"/>
          <p:nvPr/>
        </p:nvSpPr>
        <p:spPr>
          <a:xfrm>
            <a:off x="100000" y="4643500"/>
            <a:ext cx="699592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2</a:t>
            </a:r>
          </a:p>
        </p:txBody>
      </p:sp>
      <p:sp>
        <p:nvSpPr>
          <p:cNvPr id="204" name="Title"/>
          <p:cNvSpPr txBox="1"/>
          <p:nvPr/>
        </p:nvSpPr>
        <p:spPr>
          <a:xfrm>
            <a:off x="989551" y="130000"/>
            <a:ext cx="78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АКТУАЛЬНОСТЬ</a:t>
            </a:r>
          </a:p>
        </p:txBody>
      </p:sp>
      <p:sp>
        <p:nvSpPr>
          <p:cNvPr id="205" name="KPI1"/>
          <p:cNvSpPr/>
          <p:nvPr/>
        </p:nvSpPr>
        <p:spPr>
          <a:xfrm>
            <a:off x="1050000" y="850000"/>
            <a:ext cx="1915000" cy="95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572-ФЗ</a:t>
            </a:r>
          </a:p>
          <a:p>
            <a:pPr marL="0" lvl="0" indent="0" algn="ctr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обязательная аккредитация КБС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с декабря 2022 года</a:t>
            </a:r>
          </a:p>
        </p:txBody>
      </p:sp>
      <p:sp>
        <p:nvSpPr>
          <p:cNvPr id="206" name="KPI2"/>
          <p:cNvSpPr/>
          <p:nvPr/>
        </p:nvSpPr>
        <p:spPr>
          <a:xfrm>
            <a:off x="3045000" y="850000"/>
            <a:ext cx="1915000" cy="95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99,5 %</a:t>
            </a:r>
          </a:p>
          <a:p>
            <a:pPr marL="0" lvl="0" indent="0" algn="ctr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точность распознавания лиц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в системе Face2</a:t>
            </a:r>
          </a:p>
        </p:txBody>
      </p:sp>
      <p:sp>
        <p:nvSpPr>
          <p:cNvPr id="207" name="KPI3"/>
          <p:cNvSpPr/>
          <p:nvPr/>
        </p:nvSpPr>
        <p:spPr>
          <a:xfrm>
            <a:off x="5040000" y="850000"/>
            <a:ext cx="1915000" cy="95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5+ тыс.</a:t>
            </a:r>
          </a:p>
          <a:p>
            <a:pPr marL="0" lvl="0" indent="0" algn="ctr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сотрудников АББ работают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через биометрический проход</a:t>
            </a:r>
          </a:p>
        </p:txBody>
      </p:sp>
      <p:sp>
        <p:nvSpPr>
          <p:cNvPr id="208" name="KPI4"/>
          <p:cNvSpPr/>
          <p:nvPr/>
        </p:nvSpPr>
        <p:spPr>
          <a:xfrm>
            <a:off x="7035000" y="850000"/>
            <a:ext cx="1915000" cy="95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1,16 трлн ₽</a:t>
            </a:r>
          </a:p>
          <a:p>
            <a:pPr marL="0" lvl="0" indent="0" algn="ctr" rtl="0">
              <a:lnSpc>
                <a:spcPct val="110000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активы группы АББ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на конец 2025 года</a:t>
            </a:r>
          </a:p>
        </p:txBody>
      </p:sp>
      <p:sp>
        <p:nvSpPr>
          <p:cNvPr id="209" name="Body"/>
          <p:cNvSpPr txBox="1"/>
          <p:nvPr/>
        </p:nvSpPr>
        <p:spPr>
          <a:xfrm>
            <a:off x="1050000" y="2000000"/>
            <a:ext cx="79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250000" lvl="0" indent="-2000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5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Биометрия — отдельный класс цифровых инноваций </a:t>
            </a:r>
            <a:r>
              <a:rPr lang="ru-RU" sz="15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с особыми требованиями к доверию и защите данных</a:t>
            </a:r>
          </a:p>
          <a:p>
            <a:pPr marL="250000" lvl="0" indent="-2000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5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После 572-ФЗ обращение с биометрией возможно </a:t>
            </a:r>
            <a:r>
              <a:rPr lang="ru-RU" sz="15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только через КБС, аккредитованные Минцифры РФ</a:t>
            </a:r>
          </a:p>
          <a:p>
            <a:pPr marL="250000" lvl="0" indent="-2000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5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Стандартные инструменты банковской рекламы недостаточны: </a:t>
            </a:r>
            <a:r>
              <a:rPr lang="ru-RU" sz="15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требуется образовательная коммуникация</a:t>
            </a:r>
            <a:r>
              <a:rPr lang="ru-RU" sz="15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 и работа с барьерами восприятия</a:t>
            </a:r>
          </a:p>
          <a:p>
            <a:pPr marL="250000" lvl="0" indent="-2000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5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Face2 уже прошёл аккредитацию и сертификацию ФСБ/ФСТЭК, </a:t>
            </a:r>
            <a:r>
              <a:rPr lang="ru-RU" sz="15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но рынок сдерживается психологическими барьерами</a:t>
            </a:r>
          </a:p>
        </p:txBody>
      </p:sp>
      <p:sp>
        <p:nvSpPr>
          <p:cNvPr id="210" name="Footer"/>
          <p:cNvSpPr txBox="1"/>
          <p:nvPr/>
        </p:nvSpPr>
        <p:spPr>
          <a:xfrm>
            <a:off x="1050000" y="4500000"/>
            <a:ext cx="79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i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→ Требуется специализированная стратегия продвижения биометрического продукта Face2 с учётом регуляторных и репутационных особенностей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Stri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KFU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SlideNumber"/>
          <p:cNvSpPr txBox="1"/>
          <p:nvPr/>
        </p:nvSpPr>
        <p:spPr>
          <a:xfrm>
            <a:off x="100000" y="4643500"/>
            <a:ext cx="699592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3</a:t>
            </a:r>
          </a:p>
        </p:txBody>
      </p:sp>
      <p:sp>
        <p:nvSpPr>
          <p:cNvPr id="304" name="Title"/>
          <p:cNvSpPr txBox="1"/>
          <p:nvPr/>
        </p:nvSpPr>
        <p:spPr>
          <a:xfrm>
            <a:off x="989551" y="130000"/>
            <a:ext cx="78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ЦЕЛЬ И ЗАДАЧИ ИССЛЕДОВАНИЯ</a:t>
            </a:r>
          </a:p>
        </p:txBody>
      </p:sp>
      <p:sp>
        <p:nvSpPr>
          <p:cNvPr id="305" name="Goal"/>
          <p:cNvSpPr/>
          <p:nvPr/>
        </p:nvSpPr>
        <p:spPr>
          <a:xfrm>
            <a:off x="1050000" y="800000"/>
            <a:ext cx="7900000" cy="7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ЦЕЛЬ: </a:t>
            </a:r>
            <a:r>
              <a:rPr lang="ru-RU" sz="14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разработка стратегии продвижения биометрического продукта Face2 Ак Барс Банка как высокотехнологичного инновационного продукта повышенного риска</a:t>
            </a:r>
          </a:p>
        </p:txBody>
      </p:sp>
      <p:sp>
        <p:nvSpPr>
          <p:cNvPr id="306" name="TaskNum1"/>
          <p:cNvSpPr/>
          <p:nvPr/>
        </p:nvSpPr>
        <p:spPr>
          <a:xfrm>
            <a:off x="1050000" y="1700000"/>
            <a:ext cx="1524000" cy="6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</a:t>
            </a:r>
          </a:p>
        </p:txBody>
      </p:sp>
      <p:sp>
        <p:nvSpPr>
          <p:cNvPr id="307" name="TaskCat1"/>
          <p:cNvSpPr/>
          <p:nvPr/>
        </p:nvSpPr>
        <p:spPr>
          <a:xfrm>
            <a:off x="1050000" y="2300000"/>
            <a:ext cx="1524000" cy="40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ТЕОРИЯ</a:t>
            </a:r>
          </a:p>
        </p:txBody>
      </p:sp>
      <p:sp>
        <p:nvSpPr>
          <p:cNvPr id="308" name="TaskDesc1"/>
          <p:cNvSpPr/>
          <p:nvPr/>
        </p:nvSpPr>
        <p:spPr>
          <a:xfrm>
            <a:off x="1050000" y="2700000"/>
            <a:ext cx="1524000" cy="1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изучить теоретические основы продвижения инновационных продуктов и специфику биометрических технологий</a:t>
            </a:r>
          </a:p>
        </p:txBody>
      </p:sp>
      <p:sp>
        <p:nvSpPr>
          <p:cNvPr id="309" name="TaskNum2"/>
          <p:cNvSpPr/>
          <p:nvPr/>
        </p:nvSpPr>
        <p:spPr>
          <a:xfrm>
            <a:off x="2644000" y="1700000"/>
            <a:ext cx="1524000" cy="6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2</a:t>
            </a:r>
          </a:p>
        </p:txBody>
      </p:sp>
      <p:sp>
        <p:nvSpPr>
          <p:cNvPr id="310" name="TaskCat2"/>
          <p:cNvSpPr/>
          <p:nvPr/>
        </p:nvSpPr>
        <p:spPr>
          <a:xfrm>
            <a:off x="2644000" y="2300000"/>
            <a:ext cx="1524000" cy="40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ОБЪЕКТ</a:t>
            </a:r>
          </a:p>
        </p:txBody>
      </p:sp>
      <p:sp>
        <p:nvSpPr>
          <p:cNvPr id="311" name="TaskDesc2"/>
          <p:cNvSpPr/>
          <p:nvPr/>
        </p:nvSpPr>
        <p:spPr>
          <a:xfrm>
            <a:off x="2644000" y="2700000"/>
            <a:ext cx="1524000" cy="1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охарактеризовать Ак Барс Банк и продукт Face2 как объект продвижения, оценить ресурсную базу</a:t>
            </a:r>
          </a:p>
        </p:txBody>
      </p:sp>
      <p:sp>
        <p:nvSpPr>
          <p:cNvPr id="312" name="TaskNum3"/>
          <p:cNvSpPr/>
          <p:nvPr/>
        </p:nvSpPr>
        <p:spPr>
          <a:xfrm>
            <a:off x="4238000" y="1700000"/>
            <a:ext cx="1524000" cy="6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3</a:t>
            </a:r>
          </a:p>
        </p:txBody>
      </p:sp>
      <p:sp>
        <p:nvSpPr>
          <p:cNvPr id="313" name="TaskCat3"/>
          <p:cNvSpPr/>
          <p:nvPr/>
        </p:nvSpPr>
        <p:spPr>
          <a:xfrm>
            <a:off x="4238000" y="2300000"/>
            <a:ext cx="1524000" cy="40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РЫНОК</a:t>
            </a:r>
          </a:p>
        </p:txBody>
      </p:sp>
      <p:sp>
        <p:nvSpPr>
          <p:cNvPr id="314" name="TaskDesc3"/>
          <p:cNvSpPr/>
          <p:nvPr/>
        </p:nvSpPr>
        <p:spPr>
          <a:xfrm>
            <a:off x="4238000" y="2700000"/>
            <a:ext cx="1524000" cy="1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проанализировать рынок биометрии, конкурентную среду и текущее продвижение Face2</a:t>
            </a:r>
          </a:p>
        </p:txBody>
      </p:sp>
      <p:sp>
        <p:nvSpPr>
          <p:cNvPr id="315" name="TaskNum4"/>
          <p:cNvSpPr/>
          <p:nvPr/>
        </p:nvSpPr>
        <p:spPr>
          <a:xfrm>
            <a:off x="5832000" y="1700000"/>
            <a:ext cx="1524000" cy="6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4</a:t>
            </a:r>
          </a:p>
        </p:txBody>
      </p:sp>
      <p:sp>
        <p:nvSpPr>
          <p:cNvPr id="316" name="TaskCat4"/>
          <p:cNvSpPr/>
          <p:nvPr/>
        </p:nvSpPr>
        <p:spPr>
          <a:xfrm>
            <a:off x="5832000" y="2300000"/>
            <a:ext cx="1524000" cy="40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СТРАТЕГИЯ</a:t>
            </a:r>
          </a:p>
        </p:txBody>
      </p:sp>
      <p:sp>
        <p:nvSpPr>
          <p:cNvPr id="317" name="TaskDesc4"/>
          <p:cNvSpPr/>
          <p:nvPr/>
        </p:nvSpPr>
        <p:spPr>
          <a:xfrm>
            <a:off x="5832000" y="2700000"/>
            <a:ext cx="1524000" cy="1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разработать стратегию продвижения Face2 и комплекс маркетинговых мероприятий</a:t>
            </a:r>
          </a:p>
        </p:txBody>
      </p:sp>
      <p:sp>
        <p:nvSpPr>
          <p:cNvPr id="318" name="TaskNum5"/>
          <p:cNvSpPr/>
          <p:nvPr/>
        </p:nvSpPr>
        <p:spPr>
          <a:xfrm>
            <a:off x="7426000" y="1700000"/>
            <a:ext cx="1524000" cy="6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5</a:t>
            </a:r>
          </a:p>
        </p:txBody>
      </p:sp>
      <p:sp>
        <p:nvSpPr>
          <p:cNvPr id="319" name="TaskCat5"/>
          <p:cNvSpPr/>
          <p:nvPr/>
        </p:nvSpPr>
        <p:spPr>
          <a:xfrm>
            <a:off x="7426000" y="2300000"/>
            <a:ext cx="1524000" cy="40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ОЦЕНКА</a:t>
            </a:r>
          </a:p>
        </p:txBody>
      </p:sp>
      <p:sp>
        <p:nvSpPr>
          <p:cNvPr id="320" name="TaskDesc5"/>
          <p:cNvSpPr/>
          <p:nvPr/>
        </p:nvSpPr>
        <p:spPr>
          <a:xfrm>
            <a:off x="7426000" y="2700000"/>
            <a:ext cx="1524000" cy="17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оценить эффективность предложенной стратегии и риски её реализации</a:t>
            </a:r>
          </a:p>
        </p:txBody>
      </p:sp>
      <p:sp>
        <p:nvSpPr>
          <p:cNvPr id="321" name="Note"/>
          <p:cNvSpPr txBox="1"/>
          <p:nvPr/>
        </p:nvSpPr>
        <p:spPr>
          <a:xfrm>
            <a:off x="1050000" y="4550000"/>
            <a:ext cx="79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i="1" dirty="0">
                <a:solidFill>
                  <a:srgbClr val="888888"/>
                </a:solidFill>
                <a:latin typeface="PT Sans"/>
                <a:ea typeface="PT Sans"/>
                <a:cs typeface="PT Sans"/>
              </a:rPr>
              <a:t>* в соответствии с Положением о ВКР ИиИ — не более 5 задач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Stri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KFU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SlideNumber"/>
          <p:cNvSpPr txBox="1"/>
          <p:nvPr/>
        </p:nvSpPr>
        <p:spPr>
          <a:xfrm>
            <a:off x="100000" y="4643500"/>
            <a:ext cx="699592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4</a:t>
            </a:r>
          </a:p>
        </p:txBody>
      </p:sp>
      <p:sp>
        <p:nvSpPr>
          <p:cNvPr id="404" name="Title"/>
          <p:cNvSpPr txBox="1"/>
          <p:nvPr/>
        </p:nvSpPr>
        <p:spPr>
          <a:xfrm>
            <a:off x="989551" y="130000"/>
            <a:ext cx="78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РЕЗУЛЬТАТЫ ПО ЗАДАЧЕ 1: ТЕОРЕТИЧЕСКАЯ БАЗА</a:t>
            </a:r>
          </a:p>
        </p:txBody>
      </p:sp>
      <p:sp>
        <p:nvSpPr>
          <p:cNvPr id="405" name="Subtitle"/>
          <p:cNvSpPr txBox="1"/>
          <p:nvPr/>
        </p:nvSpPr>
        <p:spPr>
          <a:xfrm>
            <a:off x="1050000" y="800000"/>
            <a:ext cx="79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i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Биометрия — высокотехнологичный инновационный продукт повышенного риска</a:t>
            </a:r>
          </a:p>
        </p:txBody>
      </p:sp>
      <p:sp>
        <p:nvSpPr>
          <p:cNvPr id="406" name="Feat1H"/>
          <p:cNvSpPr/>
          <p:nvPr/>
        </p:nvSpPr>
        <p:spPr>
          <a:xfrm>
            <a:off x="1050000" y="1300000"/>
            <a:ext cx="1532000" cy="5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НОВИЗНА</a:t>
            </a:r>
          </a:p>
        </p:txBody>
      </p:sp>
      <p:sp>
        <p:nvSpPr>
          <p:cNvPr id="407" name="Feat1D"/>
          <p:cNvSpPr/>
          <p:nvPr/>
        </p:nvSpPr>
        <p:spPr>
          <a:xfrm>
            <a:off x="1050000" y="1800000"/>
            <a:ext cx="1532000" cy="6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качественно новые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характеристики</a:t>
            </a:r>
          </a:p>
        </p:txBody>
      </p:sp>
      <p:sp>
        <p:nvSpPr>
          <p:cNvPr id="408" name="Feat2H"/>
          <p:cNvSpPr/>
          <p:nvPr/>
        </p:nvSpPr>
        <p:spPr>
          <a:xfrm>
            <a:off x="2642000" y="1300000"/>
            <a:ext cx="1532000" cy="5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ТЕХНОЛО-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ГИЧНОСТЬ</a:t>
            </a:r>
          </a:p>
        </p:txBody>
      </p:sp>
      <p:sp>
        <p:nvSpPr>
          <p:cNvPr id="409" name="Feat2D"/>
          <p:cNvSpPr/>
          <p:nvPr/>
        </p:nvSpPr>
        <p:spPr>
          <a:xfrm>
            <a:off x="2642000" y="1800000"/>
            <a:ext cx="1532000" cy="6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компьютерное зрение,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ИИ, криптозащита</a:t>
            </a:r>
          </a:p>
        </p:txBody>
      </p:sp>
      <p:sp>
        <p:nvSpPr>
          <p:cNvPr id="410" name="Feat3H"/>
          <p:cNvSpPr/>
          <p:nvPr/>
        </p:nvSpPr>
        <p:spPr>
          <a:xfrm>
            <a:off x="4234000" y="1300000"/>
            <a:ext cx="1532000" cy="5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ЦЕННОСТЬ</a:t>
            </a:r>
          </a:p>
        </p:txBody>
      </p:sp>
      <p:sp>
        <p:nvSpPr>
          <p:cNvPr id="411" name="Feat3D"/>
          <p:cNvSpPr/>
          <p:nvPr/>
        </p:nvSpPr>
        <p:spPr>
          <a:xfrm>
            <a:off x="4234000" y="1800000"/>
            <a:ext cx="1532000" cy="6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оплата и доступ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без карт и документов</a:t>
            </a:r>
          </a:p>
        </p:txBody>
      </p:sp>
      <p:sp>
        <p:nvSpPr>
          <p:cNvPr id="412" name="Feat4H"/>
          <p:cNvSpPr/>
          <p:nvPr/>
        </p:nvSpPr>
        <p:spPr>
          <a:xfrm>
            <a:off x="5826000" y="1300000"/>
            <a:ext cx="1532000" cy="5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КОНКУРЕНТО-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СПОСОБНОСТЬ</a:t>
            </a:r>
          </a:p>
        </p:txBody>
      </p:sp>
      <p:sp>
        <p:nvSpPr>
          <p:cNvPr id="413" name="Feat4D"/>
          <p:cNvSpPr/>
          <p:nvPr/>
        </p:nvSpPr>
        <p:spPr>
          <a:xfrm>
            <a:off x="5826000" y="1800000"/>
            <a:ext cx="1532000" cy="6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сертификация ФСБ,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реестр Минцифры</a:t>
            </a:r>
          </a:p>
        </p:txBody>
      </p:sp>
      <p:sp>
        <p:nvSpPr>
          <p:cNvPr id="414" name="Feat5H"/>
          <p:cNvSpPr/>
          <p:nvPr/>
        </p:nvSpPr>
        <p:spPr>
          <a:xfrm>
            <a:off x="7418000" y="1300000"/>
            <a:ext cx="1532000" cy="5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ПОВЫШЕННЫЙ</a:t>
            </a:r>
          </a:p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РИСК</a:t>
            </a:r>
          </a:p>
        </p:txBody>
      </p:sp>
      <p:sp>
        <p:nvSpPr>
          <p:cNvPr id="415" name="Feat5D"/>
          <p:cNvSpPr/>
          <p:nvPr/>
        </p:nvSpPr>
        <p:spPr>
          <a:xfrm>
            <a:off x="7418000" y="1800000"/>
            <a:ext cx="1532000" cy="6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регуляторный, репутационный,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технический</a:t>
            </a:r>
          </a:p>
        </p:txBody>
      </p:sp>
      <p:sp>
        <p:nvSpPr>
          <p:cNvPr id="416" name="LeftCol"/>
          <p:cNvSpPr txBox="1"/>
          <p:nvPr/>
        </p:nvSpPr>
        <p:spPr>
          <a:xfrm>
            <a:off x="1050000" y="2700000"/>
            <a:ext cx="390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Чем биометрия отличается от других банковских инноваций:</a:t>
            </a:r>
          </a:p>
          <a:p>
            <a:pPr marL="250000" lvl="0" indent="-200000" algn="l" rtl="0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1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особо чувствительные персональные данные</a:t>
            </a:r>
          </a:p>
          <a:p>
            <a:pPr marL="250000" lvl="0" indent="-2000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1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жёсткий нормативный контур (572-ФЗ, ФСБ, ФСТЭК)</a:t>
            </a:r>
          </a:p>
          <a:p>
            <a:pPr marL="250000" lvl="0" indent="-2000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1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психологические барьеры пользователей</a:t>
            </a:r>
          </a:p>
          <a:p>
            <a:pPr marL="250000" lvl="0" indent="-2000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1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биометрический образец нельзя «отозвать»</a:t>
            </a:r>
          </a:p>
        </p:txBody>
      </p:sp>
      <p:sp>
        <p:nvSpPr>
          <p:cNvPr id="417" name="RightCol"/>
          <p:cNvSpPr txBox="1"/>
          <p:nvPr/>
        </p:nvSpPr>
        <p:spPr>
          <a:xfrm>
            <a:off x="5050000" y="2700000"/>
            <a:ext cx="3900000" cy="17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Что это означает для продвижения:</a:t>
            </a:r>
          </a:p>
          <a:p>
            <a:pPr marL="250000" lvl="0" indent="-200000" algn="l" rtl="0">
              <a:lnSpc>
                <a:spcPct val="115000"/>
              </a:lnSpc>
              <a:spcBef>
                <a:spcPts val="15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1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информирования и стимулирования спроса </a:t>
            </a:r>
            <a:r>
              <a:rPr lang="ru-RU" sz="11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недостаточно</a:t>
            </a:r>
          </a:p>
          <a:p>
            <a:pPr marL="250000" lvl="0" indent="-2000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1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обязательна образовательная коммуникация</a:t>
            </a:r>
          </a:p>
          <a:p>
            <a:pPr marL="250000" lvl="0" indent="-2000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1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систематическая работа с возражениями</a:t>
            </a:r>
          </a:p>
          <a:p>
            <a:pPr marL="250000" lvl="0" indent="-2000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17365D"/>
              </a:buClr>
              <a:buFont typeface="Arial"/>
              <a:buChar char="■"/>
            </a:pPr>
            <a:r>
              <a:rPr lang="ru-RU" sz="11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демонстрация мер защиты данных и правовой основы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Stri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KFU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SlideNumber"/>
          <p:cNvSpPr txBox="1"/>
          <p:nvPr/>
        </p:nvSpPr>
        <p:spPr>
          <a:xfrm>
            <a:off x="100000" y="4643500"/>
            <a:ext cx="699592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5</a:t>
            </a:r>
          </a:p>
        </p:txBody>
      </p:sp>
      <p:sp>
        <p:nvSpPr>
          <p:cNvPr id="504" name="Title"/>
          <p:cNvSpPr txBox="1"/>
          <p:nvPr/>
        </p:nvSpPr>
        <p:spPr>
          <a:xfrm>
            <a:off x="989551" y="130000"/>
            <a:ext cx="78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РЕЗУЛЬТАТЫ ПО ЗАДАЧЕ 2: АК БАРС БАНК И FACE2</a:t>
            </a:r>
          </a:p>
        </p:txBody>
      </p:sp>
      <p:sp>
        <p:nvSpPr>
          <p:cNvPr id="505" name="BankKPI1"/>
          <p:cNvSpPr/>
          <p:nvPr/>
        </p:nvSpPr>
        <p:spPr>
          <a:xfrm>
            <a:off x="1050000" y="850000"/>
            <a:ext cx="1750000" cy="75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1,16 трлн ₽</a:t>
            </a:r>
          </a:p>
          <a:p>
            <a:pPr marL="0" lvl="0" indent="0" algn="ctr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активы группы</a:t>
            </a:r>
          </a:p>
          <a:p>
            <a:pPr marL="0" lvl="0" indent="0" algn="ctr" rtl="0">
              <a:lnSpc>
                <a:spcPct val="11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2025 г.</a:t>
            </a:r>
          </a:p>
        </p:txBody>
      </p:sp>
      <p:sp>
        <p:nvSpPr>
          <p:cNvPr id="506" name="BankKPI2"/>
          <p:cNvSpPr/>
          <p:nvPr/>
        </p:nvSpPr>
        <p:spPr>
          <a:xfrm>
            <a:off x="2860000" y="850000"/>
            <a:ext cx="1750000" cy="75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15,7 млрд ₽</a:t>
            </a:r>
          </a:p>
          <a:p>
            <a:pPr marL="0" lvl="0" indent="0" algn="ctr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прибыль за</a:t>
            </a:r>
          </a:p>
          <a:p>
            <a:pPr marL="0" lvl="0" indent="0" algn="ctr" rtl="0">
              <a:lnSpc>
                <a:spcPct val="11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2025 г.</a:t>
            </a:r>
          </a:p>
        </p:txBody>
      </p:sp>
      <p:sp>
        <p:nvSpPr>
          <p:cNvPr id="507" name="BankKPI3"/>
          <p:cNvSpPr/>
          <p:nvPr/>
        </p:nvSpPr>
        <p:spPr>
          <a:xfrm>
            <a:off x="1050000" y="1660000"/>
            <a:ext cx="1750000" cy="75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934 тыс.</a:t>
            </a:r>
          </a:p>
          <a:p>
            <a:pPr marL="0" lvl="0" indent="0" algn="ctr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розничных</a:t>
            </a:r>
          </a:p>
          <a:p>
            <a:pPr marL="0" lvl="0" indent="0" algn="ctr" rtl="0">
              <a:lnSpc>
                <a:spcPct val="11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клиентов</a:t>
            </a:r>
          </a:p>
        </p:txBody>
      </p:sp>
      <p:sp>
        <p:nvSpPr>
          <p:cNvPr id="508" name="BankKPI4"/>
          <p:cNvSpPr/>
          <p:nvPr/>
        </p:nvSpPr>
        <p:spPr>
          <a:xfrm>
            <a:off x="2860000" y="1660000"/>
            <a:ext cx="1750000" cy="75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7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A(RU)</a:t>
            </a:r>
          </a:p>
          <a:p>
            <a:pPr marL="0" lvl="0" indent="0" algn="ctr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рейтинг АКРА,</a:t>
            </a:r>
          </a:p>
          <a:p>
            <a:pPr marL="0" lvl="0" indent="0" algn="ctr" rtl="0">
              <a:lnSpc>
                <a:spcPct val="11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стабильный</a:t>
            </a:r>
          </a:p>
        </p:txBody>
      </p:sp>
      <p:sp>
        <p:nvSpPr>
          <p:cNvPr id="509" name="BankCaption"/>
          <p:cNvSpPr txBox="1"/>
          <p:nvPr/>
        </p:nvSpPr>
        <p:spPr>
          <a:xfrm>
            <a:off x="1050000" y="2470000"/>
            <a:ext cx="356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Ак Барс Банк: крупный региональный игрок</a:t>
            </a:r>
          </a:p>
        </p:txBody>
      </p:sp>
      <p:sp>
        <p:nvSpPr>
          <p:cNvPr id="510" name="TimelineTitle"/>
          <p:cNvSpPr txBox="1"/>
          <p:nvPr/>
        </p:nvSpPr>
        <p:spPr>
          <a:xfrm>
            <a:off x="4860000" y="850000"/>
            <a:ext cx="409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ХРОНОЛОГИЯ FACE2 — от внутреннего эксперимента к рынку</a:t>
            </a:r>
          </a:p>
        </p:txBody>
      </p:sp>
      <p:cxnSp>
        <p:nvCxnSpPr>
          <p:cNvPr id="511" name="Line"/>
          <p:cNvCxnSpPr/>
          <p:nvPr/>
        </p:nvCxnSpPr>
        <p:spPr>
          <a:xfrm>
            <a:off x="4960000" y="1550000"/>
            <a:ext cx="3890000" cy="0"/>
          </a:xfrm>
          <a:prstGeom prst="line">
            <a:avLst/>
          </a:prstGeom>
          <a:ln w="19050">
            <a:solidFill>
              <a:srgbClr val="17365D"/>
            </a:solidFill>
          </a:ln>
        </p:spPr>
      </p:cxnSp>
      <p:sp>
        <p:nvSpPr>
          <p:cNvPr id="512" name="Dot2019"/>
          <p:cNvSpPr/>
          <p:nvPr/>
        </p:nvSpPr>
        <p:spPr>
          <a:xfrm>
            <a:off x="4860000" y="1450000"/>
            <a:ext cx="200000" cy="200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  <p:sp>
        <p:nvSpPr>
          <p:cNvPr id="513" name="Year2019"/>
          <p:cNvSpPr txBox="1"/>
          <p:nvPr/>
        </p:nvSpPr>
        <p:spPr>
          <a:xfrm>
            <a:off x="4610000" y="105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2019</a:t>
            </a:r>
          </a:p>
        </p:txBody>
      </p:sp>
      <p:sp>
        <p:nvSpPr>
          <p:cNvPr id="514" name="YearDesc2019"/>
          <p:cNvSpPr txBox="1"/>
          <p:nvPr/>
        </p:nvSpPr>
        <p:spPr>
          <a:xfrm>
            <a:off x="4360000" y="1750000"/>
            <a:ext cx="12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Тестовый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проект в офисах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АББ</a:t>
            </a:r>
          </a:p>
        </p:txBody>
      </p:sp>
      <p:sp>
        <p:nvSpPr>
          <p:cNvPr id="515" name="Dot2022"/>
          <p:cNvSpPr/>
          <p:nvPr/>
        </p:nvSpPr>
        <p:spPr>
          <a:xfrm>
            <a:off x="5832500" y="1450000"/>
            <a:ext cx="200000" cy="200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  <p:sp>
        <p:nvSpPr>
          <p:cNvPr id="516" name="Year2022"/>
          <p:cNvSpPr txBox="1"/>
          <p:nvPr/>
        </p:nvSpPr>
        <p:spPr>
          <a:xfrm>
            <a:off x="5582500" y="105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2022</a:t>
            </a:r>
          </a:p>
        </p:txBody>
      </p:sp>
      <p:sp>
        <p:nvSpPr>
          <p:cNvPr id="517" name="YearDesc2022"/>
          <p:cNvSpPr txBox="1"/>
          <p:nvPr/>
        </p:nvSpPr>
        <p:spPr>
          <a:xfrm>
            <a:off x="5332500" y="1750000"/>
            <a:ext cx="12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Бренд Face2,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доступ и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библиотеки</a:t>
            </a:r>
          </a:p>
        </p:txBody>
      </p:sp>
      <p:sp>
        <p:nvSpPr>
          <p:cNvPr id="518" name="Dot2023"/>
          <p:cNvSpPr/>
          <p:nvPr/>
        </p:nvSpPr>
        <p:spPr>
          <a:xfrm>
            <a:off x="6805000" y="1450000"/>
            <a:ext cx="200000" cy="200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  <p:sp>
        <p:nvSpPr>
          <p:cNvPr id="519" name="Year2023"/>
          <p:cNvSpPr txBox="1"/>
          <p:nvPr/>
        </p:nvSpPr>
        <p:spPr>
          <a:xfrm>
            <a:off x="6555000" y="105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2023</a:t>
            </a:r>
          </a:p>
        </p:txBody>
      </p:sp>
      <p:sp>
        <p:nvSpPr>
          <p:cNvPr id="520" name="YearDesc2023"/>
          <p:cNvSpPr txBox="1"/>
          <p:nvPr/>
        </p:nvSpPr>
        <p:spPr>
          <a:xfrm>
            <a:off x="6305000" y="1750000"/>
            <a:ext cx="12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КБС, аккредитация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Минцифры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№ 4-А</a:t>
            </a:r>
          </a:p>
        </p:txBody>
      </p:sp>
      <p:sp>
        <p:nvSpPr>
          <p:cNvPr id="521" name="Dot2024"/>
          <p:cNvSpPr/>
          <p:nvPr/>
        </p:nvSpPr>
        <p:spPr>
          <a:xfrm>
            <a:off x="7777500" y="1450000"/>
            <a:ext cx="200000" cy="200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  <p:sp>
        <p:nvSpPr>
          <p:cNvPr id="522" name="Year2024"/>
          <p:cNvSpPr txBox="1"/>
          <p:nvPr/>
        </p:nvSpPr>
        <p:spPr>
          <a:xfrm>
            <a:off x="7527500" y="105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2024</a:t>
            </a:r>
          </a:p>
        </p:txBody>
      </p:sp>
      <p:sp>
        <p:nvSpPr>
          <p:cNvPr id="523" name="YearDesc2024"/>
          <p:cNvSpPr txBox="1"/>
          <p:nvPr/>
        </p:nvSpPr>
        <p:spPr>
          <a:xfrm>
            <a:off x="7277500" y="1750000"/>
            <a:ext cx="12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Оплата по лицу,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казанское метро,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СБП</a:t>
            </a:r>
          </a:p>
        </p:txBody>
      </p:sp>
      <p:sp>
        <p:nvSpPr>
          <p:cNvPr id="524" name="Dot2025"/>
          <p:cNvSpPr/>
          <p:nvPr/>
        </p:nvSpPr>
        <p:spPr>
          <a:xfrm>
            <a:off x="8750000" y="1450000"/>
            <a:ext cx="200000" cy="200000"/>
          </a:xfrm>
          <a:prstGeom prst="ellipse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</p:txBody>
      </p:sp>
      <p:sp>
        <p:nvSpPr>
          <p:cNvPr id="525" name="Year2025"/>
          <p:cNvSpPr txBox="1"/>
          <p:nvPr/>
        </p:nvSpPr>
        <p:spPr>
          <a:xfrm>
            <a:off x="8500000" y="105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2025</a:t>
            </a:r>
          </a:p>
        </p:txBody>
      </p:sp>
      <p:sp>
        <p:nvSpPr>
          <p:cNvPr id="526" name="YearDesc2025"/>
          <p:cNvSpPr txBox="1"/>
          <p:nvPr/>
        </p:nvSpPr>
        <p:spPr>
          <a:xfrm>
            <a:off x="8250000" y="1750000"/>
            <a:ext cx="1200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Подтверждение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возраста, отели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без паспорта</a:t>
            </a:r>
          </a:p>
        </p:txBody>
      </p:sp>
      <p:sp>
        <p:nvSpPr>
          <p:cNvPr id="527" name="LineupTitle"/>
          <p:cNvSpPr txBox="1"/>
          <p:nvPr/>
        </p:nvSpPr>
        <p:spPr>
          <a:xfrm>
            <a:off x="1050000" y="3100000"/>
            <a:ext cx="79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ЛИНЕЙКА ПРОДУКТОВ FACE2</a:t>
            </a:r>
          </a:p>
        </p:txBody>
      </p:sp>
      <p:sp>
        <p:nvSpPr>
          <p:cNvPr id="528" name="Product1"/>
          <p:cNvSpPr/>
          <p:nvPr/>
        </p:nvSpPr>
        <p:spPr>
          <a:xfrm>
            <a:off x="1050000" y="3500000"/>
            <a:ext cx="1922500" cy="9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Face2Pay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оплата по лицу, биоэквайринг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i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банки, ритейл, вендинг, метро</a:t>
            </a:r>
          </a:p>
        </p:txBody>
      </p:sp>
      <p:sp>
        <p:nvSpPr>
          <p:cNvPr id="529" name="Product2"/>
          <p:cNvSpPr/>
          <p:nvPr/>
        </p:nvSpPr>
        <p:spPr>
          <a:xfrm>
            <a:off x="3042500" y="3500000"/>
            <a:ext cx="1922500" cy="9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Face2Pass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контроль доступа и СКУД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i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заводы, офисы, ВУЗы, склады</a:t>
            </a:r>
          </a:p>
        </p:txBody>
      </p:sp>
      <p:sp>
        <p:nvSpPr>
          <p:cNvPr id="530" name="Product3"/>
          <p:cNvSpPr/>
          <p:nvPr/>
        </p:nvSpPr>
        <p:spPr>
          <a:xfrm>
            <a:off x="5035000" y="3500000"/>
            <a:ext cx="1922500" cy="9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Face2Check-in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подтверждение возраста и личности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i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аэропорты, спортобъекты, отели</a:t>
            </a:r>
          </a:p>
        </p:txBody>
      </p:sp>
      <p:sp>
        <p:nvSpPr>
          <p:cNvPr id="531" name="Product4"/>
          <p:cNvSpPr/>
          <p:nvPr/>
        </p:nvSpPr>
        <p:spPr>
          <a:xfrm>
            <a:off x="7027500" y="3500000"/>
            <a:ext cx="1922500" cy="9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КБС под ключ</a:t>
            </a:r>
          </a:p>
          <a:p>
            <a:pPr marL="0" lvl="0" indent="0" algn="ctr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полная коммерческая биосистема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i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банки, госкорпорации, крупные федералы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Stri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KFU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SlideNumber"/>
          <p:cNvSpPr txBox="1"/>
          <p:nvPr/>
        </p:nvSpPr>
        <p:spPr>
          <a:xfrm>
            <a:off x="100000" y="4643500"/>
            <a:ext cx="699592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6</a:t>
            </a:r>
          </a:p>
        </p:txBody>
      </p:sp>
      <p:sp>
        <p:nvSpPr>
          <p:cNvPr id="604" name="Title"/>
          <p:cNvSpPr txBox="1"/>
          <p:nvPr/>
        </p:nvSpPr>
        <p:spPr>
          <a:xfrm>
            <a:off x="989551" y="130000"/>
            <a:ext cx="78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РЕЗУЛЬТАТЫ ПО ЗАДАЧЕ 3: РЫНОК И КОНКУРЕНТЫ</a:t>
            </a:r>
          </a:p>
        </p:txBody>
      </p:sp>
      <p:sp>
        <p:nvSpPr>
          <p:cNvPr id="605" name="Subtitle"/>
          <p:cNvSpPr txBox="1"/>
          <p:nvPr/>
        </p:nvSpPr>
        <p:spPr>
          <a:xfrm>
            <a:off x="1050000" y="800000"/>
            <a:ext cx="79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i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После 572-ФЗ конкурентный рынок ограничен — поле разделено между аккредитованными КБС</a:t>
            </a:r>
          </a:p>
        </p:txBody>
      </p:sp>
      <p:sp>
        <p:nvSpPr>
          <p:cNvPr id="606" name="H0"/>
          <p:cNvSpPr/>
          <p:nvPr/>
        </p:nvSpPr>
        <p:spPr>
          <a:xfrm>
            <a:off x="1050000" y="1200000"/>
            <a:ext cx="2200000" cy="38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Критерий</a:t>
            </a:r>
          </a:p>
        </p:txBody>
      </p:sp>
      <p:sp>
        <p:nvSpPr>
          <p:cNvPr id="607" name="H1"/>
          <p:cNvSpPr/>
          <p:nvPr/>
        </p:nvSpPr>
        <p:spPr>
          <a:xfrm>
            <a:off x="3250000" y="1200000"/>
            <a:ext cx="1425000" cy="38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FACE2 АББ</a:t>
            </a:r>
          </a:p>
        </p:txBody>
      </p:sp>
      <p:sp>
        <p:nvSpPr>
          <p:cNvPr id="608" name="H2"/>
          <p:cNvSpPr/>
          <p:nvPr/>
        </p:nvSpPr>
        <p:spPr>
          <a:xfrm>
            <a:off x="4675000" y="1200000"/>
            <a:ext cx="1425000" cy="38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СБЕР</a:t>
            </a:r>
          </a:p>
        </p:txBody>
      </p:sp>
      <p:sp>
        <p:nvSpPr>
          <p:cNvPr id="609" name="H3"/>
          <p:cNvSpPr/>
          <p:nvPr/>
        </p:nvSpPr>
        <p:spPr>
          <a:xfrm>
            <a:off x="6100000" y="1200000"/>
            <a:ext cx="1425000" cy="38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VISIONLABS</a:t>
            </a:r>
          </a:p>
        </p:txBody>
      </p:sp>
      <p:sp>
        <p:nvSpPr>
          <p:cNvPr id="610" name="H4"/>
          <p:cNvSpPr/>
          <p:nvPr/>
        </p:nvSpPr>
        <p:spPr>
          <a:xfrm>
            <a:off x="7525000" y="1200000"/>
            <a:ext cx="1425000" cy="38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OVISION</a:t>
            </a:r>
          </a:p>
        </p:txBody>
      </p:sp>
      <p:sp>
        <p:nvSpPr>
          <p:cNvPr id="611" name="R0C0"/>
          <p:cNvSpPr/>
          <p:nvPr/>
        </p:nvSpPr>
        <p:spPr>
          <a:xfrm>
            <a:off x="1050000" y="1580000"/>
            <a:ext cx="2200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Аккредитация КБС Минцифры РФ</a:t>
            </a:r>
          </a:p>
        </p:txBody>
      </p:sp>
      <p:sp>
        <p:nvSpPr>
          <p:cNvPr id="612" name="R0C1"/>
          <p:cNvSpPr/>
          <p:nvPr/>
        </p:nvSpPr>
        <p:spPr>
          <a:xfrm>
            <a:off x="3250000" y="1580000"/>
            <a:ext cx="1425000" cy="380000"/>
          </a:xfrm>
          <a:prstGeom prst="rect">
            <a:avLst/>
          </a:prstGeom>
          <a:solidFill>
            <a:srgbClr val="D6DCE5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✓ № 4-А (2023)</a:t>
            </a:r>
          </a:p>
        </p:txBody>
      </p:sp>
      <p:sp>
        <p:nvSpPr>
          <p:cNvPr id="613" name="R0C2"/>
          <p:cNvSpPr/>
          <p:nvPr/>
        </p:nvSpPr>
        <p:spPr>
          <a:xfrm>
            <a:off x="4675000" y="158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✓</a:t>
            </a:r>
          </a:p>
        </p:txBody>
      </p:sp>
      <p:sp>
        <p:nvSpPr>
          <p:cNvPr id="614" name="R0C3"/>
          <p:cNvSpPr/>
          <p:nvPr/>
        </p:nvSpPr>
        <p:spPr>
          <a:xfrm>
            <a:off x="6100000" y="158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✓ как вендор</a:t>
            </a:r>
          </a:p>
        </p:txBody>
      </p:sp>
      <p:sp>
        <p:nvSpPr>
          <p:cNvPr id="615" name="R0C4"/>
          <p:cNvSpPr/>
          <p:nvPr/>
        </p:nvSpPr>
        <p:spPr>
          <a:xfrm>
            <a:off x="7525000" y="158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✓ как вендор</a:t>
            </a:r>
          </a:p>
        </p:txBody>
      </p:sp>
      <p:sp>
        <p:nvSpPr>
          <p:cNvPr id="616" name="R1C0"/>
          <p:cNvSpPr/>
          <p:nvPr/>
        </p:nvSpPr>
        <p:spPr>
          <a:xfrm>
            <a:off x="1050000" y="1960000"/>
            <a:ext cx="2200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Сертификация ФСБ / ФСТЭК</a:t>
            </a:r>
          </a:p>
        </p:txBody>
      </p:sp>
      <p:sp>
        <p:nvSpPr>
          <p:cNvPr id="617" name="R1C1"/>
          <p:cNvSpPr/>
          <p:nvPr/>
        </p:nvSpPr>
        <p:spPr>
          <a:xfrm>
            <a:off x="3250000" y="1960000"/>
            <a:ext cx="1425000" cy="380000"/>
          </a:xfrm>
          <a:prstGeom prst="rect">
            <a:avLst/>
          </a:prstGeom>
          <a:solidFill>
            <a:srgbClr val="D6DCE5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✓</a:t>
            </a:r>
          </a:p>
        </p:txBody>
      </p:sp>
      <p:sp>
        <p:nvSpPr>
          <p:cNvPr id="618" name="R1C2"/>
          <p:cNvSpPr/>
          <p:nvPr/>
        </p:nvSpPr>
        <p:spPr>
          <a:xfrm>
            <a:off x="4675000" y="1960000"/>
            <a:ext cx="1425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✓</a:t>
            </a:r>
          </a:p>
        </p:txBody>
      </p:sp>
      <p:sp>
        <p:nvSpPr>
          <p:cNvPr id="619" name="R1C3"/>
          <p:cNvSpPr/>
          <p:nvPr/>
        </p:nvSpPr>
        <p:spPr>
          <a:xfrm>
            <a:off x="6100000" y="1960000"/>
            <a:ext cx="1425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✓</a:t>
            </a:r>
          </a:p>
        </p:txBody>
      </p:sp>
      <p:sp>
        <p:nvSpPr>
          <p:cNvPr id="620" name="R1C4"/>
          <p:cNvSpPr/>
          <p:nvPr/>
        </p:nvSpPr>
        <p:spPr>
          <a:xfrm>
            <a:off x="7525000" y="1960000"/>
            <a:ext cx="1425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✓</a:t>
            </a:r>
          </a:p>
        </p:txBody>
      </p:sp>
      <p:sp>
        <p:nvSpPr>
          <p:cNvPr id="621" name="R2C0"/>
          <p:cNvSpPr/>
          <p:nvPr/>
        </p:nvSpPr>
        <p:spPr>
          <a:xfrm>
            <a:off x="1050000" y="2340000"/>
            <a:ext cx="2200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Реестр отечественного ПО</a:t>
            </a:r>
          </a:p>
        </p:txBody>
      </p:sp>
      <p:sp>
        <p:nvSpPr>
          <p:cNvPr id="622" name="R2C1"/>
          <p:cNvSpPr/>
          <p:nvPr/>
        </p:nvSpPr>
        <p:spPr>
          <a:xfrm>
            <a:off x="3250000" y="2340000"/>
            <a:ext cx="1425000" cy="380000"/>
          </a:xfrm>
          <a:prstGeom prst="rect">
            <a:avLst/>
          </a:prstGeom>
          <a:solidFill>
            <a:srgbClr val="D6DCE5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✓</a:t>
            </a:r>
          </a:p>
        </p:txBody>
      </p:sp>
      <p:sp>
        <p:nvSpPr>
          <p:cNvPr id="623" name="R2C2"/>
          <p:cNvSpPr/>
          <p:nvPr/>
        </p:nvSpPr>
        <p:spPr>
          <a:xfrm>
            <a:off x="4675000" y="234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✓</a:t>
            </a:r>
          </a:p>
        </p:txBody>
      </p:sp>
      <p:sp>
        <p:nvSpPr>
          <p:cNvPr id="624" name="R2C3"/>
          <p:cNvSpPr/>
          <p:nvPr/>
        </p:nvSpPr>
        <p:spPr>
          <a:xfrm>
            <a:off x="6100000" y="234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✓</a:t>
            </a:r>
          </a:p>
        </p:txBody>
      </p:sp>
      <p:sp>
        <p:nvSpPr>
          <p:cNvPr id="625" name="R2C4"/>
          <p:cNvSpPr/>
          <p:nvPr/>
        </p:nvSpPr>
        <p:spPr>
          <a:xfrm>
            <a:off x="7525000" y="234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✓</a:t>
            </a:r>
          </a:p>
        </p:txBody>
      </p:sp>
      <p:sp>
        <p:nvSpPr>
          <p:cNvPr id="626" name="R3C0"/>
          <p:cNvSpPr/>
          <p:nvPr/>
        </p:nvSpPr>
        <p:spPr>
          <a:xfrm>
            <a:off x="1050000" y="2720000"/>
            <a:ext cx="2200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Собственный оператор биометрии</a:t>
            </a:r>
          </a:p>
        </p:txBody>
      </p:sp>
      <p:sp>
        <p:nvSpPr>
          <p:cNvPr id="627" name="R3C1"/>
          <p:cNvSpPr/>
          <p:nvPr/>
        </p:nvSpPr>
        <p:spPr>
          <a:xfrm>
            <a:off x="3250000" y="2720000"/>
            <a:ext cx="1425000" cy="380000"/>
          </a:xfrm>
          <a:prstGeom prst="rect">
            <a:avLst/>
          </a:prstGeom>
          <a:solidFill>
            <a:srgbClr val="D6DCE5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✓ (банк)</a:t>
            </a:r>
          </a:p>
        </p:txBody>
      </p:sp>
      <p:sp>
        <p:nvSpPr>
          <p:cNvPr id="628" name="R3C2"/>
          <p:cNvSpPr/>
          <p:nvPr/>
        </p:nvSpPr>
        <p:spPr>
          <a:xfrm>
            <a:off x="4675000" y="2720000"/>
            <a:ext cx="1425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✓ (банк)</a:t>
            </a:r>
          </a:p>
        </p:txBody>
      </p:sp>
      <p:sp>
        <p:nvSpPr>
          <p:cNvPr id="629" name="R3C3"/>
          <p:cNvSpPr/>
          <p:nvPr/>
        </p:nvSpPr>
        <p:spPr>
          <a:xfrm>
            <a:off x="6100000" y="2720000"/>
            <a:ext cx="1425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—</a:t>
            </a:r>
          </a:p>
        </p:txBody>
      </p:sp>
      <p:sp>
        <p:nvSpPr>
          <p:cNvPr id="630" name="R3C4"/>
          <p:cNvSpPr/>
          <p:nvPr/>
        </p:nvSpPr>
        <p:spPr>
          <a:xfrm>
            <a:off x="7525000" y="2720000"/>
            <a:ext cx="1425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—</a:t>
            </a:r>
          </a:p>
        </p:txBody>
      </p:sp>
      <p:sp>
        <p:nvSpPr>
          <p:cNvPr id="631" name="R4C0"/>
          <p:cNvSpPr/>
          <p:nvPr/>
        </p:nvSpPr>
        <p:spPr>
          <a:xfrm>
            <a:off x="1050000" y="3100000"/>
            <a:ext cx="2200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Линейка для B2B (СКУД, эквайринг)</a:t>
            </a:r>
          </a:p>
        </p:txBody>
      </p:sp>
      <p:sp>
        <p:nvSpPr>
          <p:cNvPr id="632" name="R4C1"/>
          <p:cNvSpPr/>
          <p:nvPr/>
        </p:nvSpPr>
        <p:spPr>
          <a:xfrm>
            <a:off x="3250000" y="3100000"/>
            <a:ext cx="1425000" cy="380000"/>
          </a:xfrm>
          <a:prstGeom prst="rect">
            <a:avLst/>
          </a:prstGeom>
          <a:solidFill>
            <a:srgbClr val="D6DCE5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Pay/Pass/Check</a:t>
            </a:r>
          </a:p>
        </p:txBody>
      </p:sp>
      <p:sp>
        <p:nvSpPr>
          <p:cNvPr id="633" name="R4C2"/>
          <p:cNvSpPr/>
          <p:nvPr/>
        </p:nvSpPr>
        <p:spPr>
          <a:xfrm>
            <a:off x="4675000" y="310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полная</a:t>
            </a:r>
          </a:p>
        </p:txBody>
      </p:sp>
      <p:sp>
        <p:nvSpPr>
          <p:cNvPr id="634" name="R4C3"/>
          <p:cNvSpPr/>
          <p:nvPr/>
        </p:nvSpPr>
        <p:spPr>
          <a:xfrm>
            <a:off x="6100000" y="310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Luna SDK</a:t>
            </a:r>
          </a:p>
        </p:txBody>
      </p:sp>
      <p:sp>
        <p:nvSpPr>
          <p:cNvPr id="635" name="R4C4"/>
          <p:cNvSpPr/>
          <p:nvPr/>
        </p:nvSpPr>
        <p:spPr>
          <a:xfrm>
            <a:off x="7525000" y="310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СКУД, эквайринг</a:t>
            </a:r>
          </a:p>
        </p:txBody>
      </p:sp>
      <p:sp>
        <p:nvSpPr>
          <p:cNvPr id="636" name="R5C0"/>
          <p:cNvSpPr/>
          <p:nvPr/>
        </p:nvSpPr>
        <p:spPr>
          <a:xfrm>
            <a:off x="1050000" y="3480000"/>
            <a:ext cx="2200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Региональная привязка</a:t>
            </a:r>
          </a:p>
        </p:txBody>
      </p:sp>
      <p:sp>
        <p:nvSpPr>
          <p:cNvPr id="637" name="R5C1"/>
          <p:cNvSpPr/>
          <p:nvPr/>
        </p:nvSpPr>
        <p:spPr>
          <a:xfrm>
            <a:off x="3250000" y="3480000"/>
            <a:ext cx="1425000" cy="380000"/>
          </a:xfrm>
          <a:prstGeom prst="rect">
            <a:avLst/>
          </a:prstGeom>
          <a:solidFill>
            <a:srgbClr val="D6DCE5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Татарстан</a:t>
            </a:r>
          </a:p>
        </p:txBody>
      </p:sp>
      <p:sp>
        <p:nvSpPr>
          <p:cNvPr id="638" name="R5C2"/>
          <p:cNvSpPr/>
          <p:nvPr/>
        </p:nvSpPr>
        <p:spPr>
          <a:xfrm>
            <a:off x="4675000" y="3480000"/>
            <a:ext cx="1425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федеральный</a:t>
            </a:r>
          </a:p>
        </p:txBody>
      </p:sp>
      <p:sp>
        <p:nvSpPr>
          <p:cNvPr id="639" name="R5C3"/>
          <p:cNvSpPr/>
          <p:nvPr/>
        </p:nvSpPr>
        <p:spPr>
          <a:xfrm>
            <a:off x="6100000" y="3480000"/>
            <a:ext cx="1425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федеральный</a:t>
            </a:r>
          </a:p>
        </p:txBody>
      </p:sp>
      <p:sp>
        <p:nvSpPr>
          <p:cNvPr id="640" name="R5C4"/>
          <p:cNvSpPr/>
          <p:nvPr/>
        </p:nvSpPr>
        <p:spPr>
          <a:xfrm>
            <a:off x="7525000" y="3480000"/>
            <a:ext cx="1425000" cy="38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федеральный</a:t>
            </a:r>
          </a:p>
        </p:txBody>
      </p:sp>
      <p:sp>
        <p:nvSpPr>
          <p:cNvPr id="641" name="R6C0"/>
          <p:cNvSpPr/>
          <p:nvPr/>
        </p:nvSpPr>
        <p:spPr>
          <a:xfrm>
            <a:off x="1050000" y="3860000"/>
            <a:ext cx="2200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Цена / референты</a:t>
            </a:r>
          </a:p>
        </p:txBody>
      </p:sp>
      <p:sp>
        <p:nvSpPr>
          <p:cNvPr id="642" name="R6C1"/>
          <p:cNvSpPr/>
          <p:nvPr/>
        </p:nvSpPr>
        <p:spPr>
          <a:xfrm>
            <a:off x="3250000" y="3860000"/>
            <a:ext cx="1425000" cy="380000"/>
          </a:xfrm>
          <a:prstGeom prst="rect">
            <a:avLst/>
          </a:prstGeom>
          <a:solidFill>
            <a:srgbClr val="D6DCE5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средний +</a:t>
            </a:r>
          </a:p>
        </p:txBody>
      </p:sp>
      <p:sp>
        <p:nvSpPr>
          <p:cNvPr id="643" name="R6C2"/>
          <p:cNvSpPr/>
          <p:nvPr/>
        </p:nvSpPr>
        <p:spPr>
          <a:xfrm>
            <a:off x="4675000" y="386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премиум</a:t>
            </a:r>
          </a:p>
        </p:txBody>
      </p:sp>
      <p:sp>
        <p:nvSpPr>
          <p:cNvPr id="644" name="R6C3"/>
          <p:cNvSpPr/>
          <p:nvPr/>
        </p:nvSpPr>
        <p:spPr>
          <a:xfrm>
            <a:off x="6100000" y="386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премиум</a:t>
            </a:r>
          </a:p>
        </p:txBody>
      </p:sp>
      <p:sp>
        <p:nvSpPr>
          <p:cNvPr id="645" name="R6C4"/>
          <p:cNvSpPr/>
          <p:nvPr/>
        </p:nvSpPr>
        <p:spPr>
          <a:xfrm>
            <a:off x="7525000" y="3860000"/>
            <a:ext cx="1425000" cy="38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средний</a:t>
            </a:r>
          </a:p>
        </p:txBody>
      </p:sp>
      <p:sp>
        <p:nvSpPr>
          <p:cNvPr id="646" name="Conclusion"/>
          <p:cNvSpPr/>
          <p:nvPr/>
        </p:nvSpPr>
        <p:spPr>
          <a:xfrm>
            <a:off x="1050000" y="4340000"/>
            <a:ext cx="7900000" cy="35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→ Преимущество Face2: </a:t>
            </a:r>
            <a:r>
              <a:rPr lang="ru-RU" sz="11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статус оператора биометрии у банка + ESG-рейтинг + региональная база Татарстана для пилотов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Stri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KFU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SlideNumber"/>
          <p:cNvSpPr txBox="1"/>
          <p:nvPr/>
        </p:nvSpPr>
        <p:spPr>
          <a:xfrm>
            <a:off x="100000" y="4643500"/>
            <a:ext cx="699592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7</a:t>
            </a:r>
          </a:p>
        </p:txBody>
      </p:sp>
      <p:sp>
        <p:nvSpPr>
          <p:cNvPr id="704" name="Title"/>
          <p:cNvSpPr txBox="1"/>
          <p:nvPr/>
        </p:nvSpPr>
        <p:spPr>
          <a:xfrm>
            <a:off x="989551" y="130000"/>
            <a:ext cx="78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РЕЗУЛЬТАТЫ ПО ЗАДАЧЕ 4: СТРАТЕГИЯ ПРОДВИЖЕНИЯ</a:t>
            </a:r>
          </a:p>
        </p:txBody>
      </p:sp>
      <p:sp>
        <p:nvSpPr>
          <p:cNvPr id="705" name="Subtitle"/>
          <p:cNvSpPr txBox="1"/>
          <p:nvPr/>
        </p:nvSpPr>
        <p:spPr>
          <a:xfrm>
            <a:off x="1050000" y="800000"/>
            <a:ext cx="79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i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Интегрированная стратегия push + pull, адаптированная под биометрию</a:t>
            </a:r>
          </a:p>
        </p:txBody>
      </p:sp>
      <p:sp>
        <p:nvSpPr>
          <p:cNvPr id="706" name="FunnelTitle"/>
          <p:cNvSpPr txBox="1"/>
          <p:nvPr/>
        </p:nvSpPr>
        <p:spPr>
          <a:xfrm>
            <a:off x="1050000" y="950000"/>
            <a:ext cx="41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ВОРОНКА С ЭТАПОМ ДОВЕРИЯ</a:t>
            </a:r>
          </a:p>
        </p:txBody>
      </p:sp>
      <p:sp>
        <p:nvSpPr>
          <p:cNvPr id="707" name="FN0"/>
          <p:cNvSpPr/>
          <p:nvPr/>
        </p:nvSpPr>
        <p:spPr>
          <a:xfrm>
            <a:off x="1050000" y="1300000"/>
            <a:ext cx="4100000" cy="570000"/>
          </a:xfrm>
          <a:prstGeom prst="trapezoid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ОСВЕДОМЛЁННОСТЬ</a:t>
            </a:r>
          </a:p>
          <a:p>
            <a:pPr marL="0" lvl="0" indent="0" algn="ctr" rtl="0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образовательная коммуникация</a:t>
            </a:r>
          </a:p>
        </p:txBody>
      </p:sp>
      <p:sp>
        <p:nvSpPr>
          <p:cNvPr id="708" name="FN1"/>
          <p:cNvSpPr/>
          <p:nvPr/>
        </p:nvSpPr>
        <p:spPr>
          <a:xfrm>
            <a:off x="1357500" y="1900000"/>
            <a:ext cx="3485000" cy="57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ИНТЕРЕС</a:t>
            </a:r>
          </a:p>
          <a:p>
            <a:pPr marL="0" lvl="0" indent="0" algn="ctr" rtl="0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демонстрации и пилоты</a:t>
            </a:r>
          </a:p>
        </p:txBody>
      </p:sp>
      <p:sp>
        <p:nvSpPr>
          <p:cNvPr id="709" name="FN2"/>
          <p:cNvSpPr/>
          <p:nvPr/>
        </p:nvSpPr>
        <p:spPr>
          <a:xfrm>
            <a:off x="1665000" y="2500000"/>
            <a:ext cx="2870000" cy="57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ДОВЕРИЕ</a:t>
            </a:r>
          </a:p>
          <a:p>
            <a:pPr marL="0" lvl="0" indent="0" algn="ctr" rtl="0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сертификация, ФСБ, 572-ФЗ</a:t>
            </a:r>
          </a:p>
        </p:txBody>
      </p:sp>
      <p:sp>
        <p:nvSpPr>
          <p:cNvPr id="710" name="FN3"/>
          <p:cNvSpPr/>
          <p:nvPr/>
        </p:nvSpPr>
        <p:spPr>
          <a:xfrm>
            <a:off x="1972500" y="3100000"/>
            <a:ext cx="2255000" cy="57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ПРОБА</a:t>
            </a:r>
          </a:p>
          <a:p>
            <a:pPr marL="0" lvl="0" indent="0" algn="ctr" rtl="0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пилотные площадки и партнёры</a:t>
            </a:r>
          </a:p>
        </p:txBody>
      </p:sp>
      <p:sp>
        <p:nvSpPr>
          <p:cNvPr id="711" name="FN4"/>
          <p:cNvSpPr/>
          <p:nvPr/>
        </p:nvSpPr>
        <p:spPr>
          <a:xfrm>
            <a:off x="2280000" y="3700000"/>
            <a:ext cx="1640000" cy="57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ВНЕДРЕНИЕ</a:t>
            </a:r>
          </a:p>
          <a:p>
            <a:pPr marL="0" lvl="0" indent="0" algn="ctr" rtl="0">
              <a:lnSpc>
                <a:spcPct val="11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коммерческий контракт</a:t>
            </a:r>
          </a:p>
        </p:txBody>
      </p:sp>
      <p:sp>
        <p:nvSpPr>
          <p:cNvPr id="712" name="PMixTitle"/>
          <p:cNvSpPr txBox="1"/>
          <p:nvPr/>
        </p:nvSpPr>
        <p:spPr>
          <a:xfrm>
            <a:off x="5350000" y="950000"/>
            <a:ext cx="3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КОМПЛЕКС 7P ДЛЯ FACE2</a:t>
            </a:r>
          </a:p>
        </p:txBody>
      </p:sp>
      <p:sp>
        <p:nvSpPr>
          <p:cNvPr id="713" name="P0L"/>
          <p:cNvSpPr/>
          <p:nvPr/>
        </p:nvSpPr>
        <p:spPr>
          <a:xfrm>
            <a:off x="5350000" y="1300000"/>
            <a:ext cx="1300000" cy="412857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Product</a:t>
            </a:r>
          </a:p>
        </p:txBody>
      </p:sp>
      <p:sp>
        <p:nvSpPr>
          <p:cNvPr id="714" name="P0R"/>
          <p:cNvSpPr/>
          <p:nvPr/>
        </p:nvSpPr>
        <p:spPr>
          <a:xfrm>
            <a:off x="6650000" y="1300000"/>
            <a:ext cx="2300000" cy="412857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продуктовая линейка под B2B-сценарии</a:t>
            </a:r>
          </a:p>
        </p:txBody>
      </p:sp>
      <p:sp>
        <p:nvSpPr>
          <p:cNvPr id="715" name="P1L"/>
          <p:cNvSpPr/>
          <p:nvPr/>
        </p:nvSpPr>
        <p:spPr>
          <a:xfrm>
            <a:off x="5350000" y="1742857"/>
            <a:ext cx="1300000" cy="412857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Price</a:t>
            </a:r>
          </a:p>
        </p:txBody>
      </p:sp>
      <p:sp>
        <p:nvSpPr>
          <p:cNvPr id="716" name="P1R"/>
          <p:cNvSpPr/>
          <p:nvPr/>
        </p:nvSpPr>
        <p:spPr>
          <a:xfrm>
            <a:off x="6650000" y="1742857"/>
            <a:ext cx="2300000" cy="412857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транзакционная модель + контракт под ключ</a:t>
            </a:r>
          </a:p>
        </p:txBody>
      </p:sp>
      <p:sp>
        <p:nvSpPr>
          <p:cNvPr id="717" name="P2L"/>
          <p:cNvSpPr/>
          <p:nvPr/>
        </p:nvSpPr>
        <p:spPr>
          <a:xfrm>
            <a:off x="5350000" y="2185714"/>
            <a:ext cx="1300000" cy="412857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Place</a:t>
            </a:r>
          </a:p>
        </p:txBody>
      </p:sp>
      <p:sp>
        <p:nvSpPr>
          <p:cNvPr id="718" name="P2R"/>
          <p:cNvSpPr/>
          <p:nvPr/>
        </p:nvSpPr>
        <p:spPr>
          <a:xfrm>
            <a:off x="6650000" y="2185714"/>
            <a:ext cx="2300000" cy="412857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Татарстан → федеральные пилоты (Минцифры, НСПК)</a:t>
            </a:r>
          </a:p>
        </p:txBody>
      </p:sp>
      <p:sp>
        <p:nvSpPr>
          <p:cNvPr id="719" name="P3L"/>
          <p:cNvSpPr/>
          <p:nvPr/>
        </p:nvSpPr>
        <p:spPr>
          <a:xfrm>
            <a:off x="5350000" y="2628571"/>
            <a:ext cx="1300000" cy="412857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Promotion</a:t>
            </a:r>
          </a:p>
        </p:txBody>
      </p:sp>
      <p:sp>
        <p:nvSpPr>
          <p:cNvPr id="720" name="P3R"/>
          <p:cNvSpPr/>
          <p:nvPr/>
        </p:nvSpPr>
        <p:spPr>
          <a:xfrm>
            <a:off x="6650000" y="2628571"/>
            <a:ext cx="2300000" cy="412857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контент-маркетинг, отраслевые конференции, кейсы</a:t>
            </a:r>
          </a:p>
        </p:txBody>
      </p:sp>
      <p:sp>
        <p:nvSpPr>
          <p:cNvPr id="721" name="P4L"/>
          <p:cNvSpPr/>
          <p:nvPr/>
        </p:nvSpPr>
        <p:spPr>
          <a:xfrm>
            <a:off x="5350000" y="3071428"/>
            <a:ext cx="1300000" cy="412857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People</a:t>
            </a:r>
          </a:p>
        </p:txBody>
      </p:sp>
      <p:sp>
        <p:nvSpPr>
          <p:cNvPr id="722" name="P4R"/>
          <p:cNvSpPr/>
          <p:nvPr/>
        </p:nvSpPr>
        <p:spPr>
          <a:xfrm>
            <a:off x="6650000" y="3071428"/>
            <a:ext cx="2300000" cy="412857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интеграционная команда и сопровождение клиента</a:t>
            </a:r>
          </a:p>
        </p:txBody>
      </p:sp>
      <p:sp>
        <p:nvSpPr>
          <p:cNvPr id="723" name="P5L"/>
          <p:cNvSpPr/>
          <p:nvPr/>
        </p:nvSpPr>
        <p:spPr>
          <a:xfrm>
            <a:off x="5350000" y="3514285"/>
            <a:ext cx="1300000" cy="412857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Process</a:t>
            </a:r>
          </a:p>
        </p:txBody>
      </p:sp>
      <p:sp>
        <p:nvSpPr>
          <p:cNvPr id="724" name="P5R"/>
          <p:cNvSpPr/>
          <p:nvPr/>
        </p:nvSpPr>
        <p:spPr>
          <a:xfrm>
            <a:off x="6650000" y="3514285"/>
            <a:ext cx="2300000" cy="412857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регламент сбора биометрии через «Госуслуги»</a:t>
            </a:r>
          </a:p>
        </p:txBody>
      </p:sp>
      <p:sp>
        <p:nvSpPr>
          <p:cNvPr id="725" name="P6L"/>
          <p:cNvSpPr/>
          <p:nvPr/>
        </p:nvSpPr>
        <p:spPr>
          <a:xfrm>
            <a:off x="5350000" y="3957142"/>
            <a:ext cx="1300000" cy="412857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Physical evidence</a:t>
            </a:r>
          </a:p>
        </p:txBody>
      </p:sp>
      <p:sp>
        <p:nvSpPr>
          <p:cNvPr id="726" name="P6R"/>
          <p:cNvSpPr/>
          <p:nvPr/>
        </p:nvSpPr>
        <p:spPr>
          <a:xfrm>
            <a:off x="6650000" y="3957142"/>
            <a:ext cx="2300000" cy="412857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сертификаты ФСБ, реестр Минцифры, ESG-A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Stri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KFU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SlideNumber"/>
          <p:cNvSpPr txBox="1"/>
          <p:nvPr/>
        </p:nvSpPr>
        <p:spPr>
          <a:xfrm>
            <a:off x="100000" y="4643500"/>
            <a:ext cx="699592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8</a:t>
            </a:r>
          </a:p>
        </p:txBody>
      </p:sp>
      <p:sp>
        <p:nvSpPr>
          <p:cNvPr id="804" name="Title"/>
          <p:cNvSpPr txBox="1"/>
          <p:nvPr/>
        </p:nvSpPr>
        <p:spPr>
          <a:xfrm>
            <a:off x="989551" y="130000"/>
            <a:ext cx="78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РЕЗУЛЬТАТЫ ПО ЗАДАЧЕ 5: ФИНАНСОВАЯ ЭФФЕКТИВНОСТЬ И РИСКИ</a:t>
            </a:r>
          </a:p>
        </p:txBody>
      </p:sp>
      <p:sp>
        <p:nvSpPr>
          <p:cNvPr id="805" name="Params"/>
          <p:cNvSpPr txBox="1"/>
          <p:nvPr/>
        </p:nvSpPr>
        <p:spPr>
          <a:xfrm>
            <a:off x="1050000" y="770000"/>
            <a:ext cx="7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Параметры модели: </a:t>
            </a: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I</a:t>
            </a:r>
            <a:r>
              <a:rPr lang="ru-RU" sz="7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0</a:t>
            </a: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 = 28 млн ₽   ·   r = 20 % (ЦБ 17 % + премия 3 %)   ·   CF после налога 25 % = (6 / 16 / 28 / 40 / 48) млн ₽</a:t>
            </a:r>
          </a:p>
        </p:txBody>
      </p:sp>
      <p:sp>
        <p:nvSpPr>
          <p:cNvPr id="806" name="FinL0"/>
          <p:cNvSpPr/>
          <p:nvPr/>
        </p:nvSpPr>
        <p:spPr>
          <a:xfrm>
            <a:off x="1050000" y="1080000"/>
            <a:ext cx="1915000" cy="28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NPV</a:t>
            </a:r>
          </a:p>
        </p:txBody>
      </p:sp>
      <p:sp>
        <p:nvSpPr>
          <p:cNvPr id="807" name="FinV0"/>
          <p:cNvSpPr/>
          <p:nvPr/>
        </p:nvSpPr>
        <p:spPr>
          <a:xfrm>
            <a:off x="1050000" y="1360000"/>
            <a:ext cx="1915000" cy="67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42,9 млн ₽</a:t>
            </a:r>
          </a:p>
          <a:p>
            <a:pPr marL="0" lvl="0" indent="0" algn="ctr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чистый дисконтированный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доход стратегии</a:t>
            </a:r>
          </a:p>
        </p:txBody>
      </p:sp>
      <p:sp>
        <p:nvSpPr>
          <p:cNvPr id="808" name="FinL1"/>
          <p:cNvSpPr/>
          <p:nvPr/>
        </p:nvSpPr>
        <p:spPr>
          <a:xfrm>
            <a:off x="3045000" y="1080000"/>
            <a:ext cx="1915000" cy="28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PP / DPP</a:t>
            </a:r>
          </a:p>
        </p:txBody>
      </p:sp>
      <p:sp>
        <p:nvSpPr>
          <p:cNvPr id="809" name="FinV1"/>
          <p:cNvSpPr/>
          <p:nvPr/>
        </p:nvSpPr>
        <p:spPr>
          <a:xfrm>
            <a:off x="3045000" y="1360000"/>
            <a:ext cx="1915000" cy="67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27 / 33 мес.</a:t>
            </a:r>
          </a:p>
          <a:p>
            <a:pPr marL="0" lvl="0" indent="0" algn="ctr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простой и дисконтированный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сроки окупаемости</a:t>
            </a:r>
          </a:p>
        </p:txBody>
      </p:sp>
      <p:sp>
        <p:nvSpPr>
          <p:cNvPr id="810" name="FinL2"/>
          <p:cNvSpPr/>
          <p:nvPr/>
        </p:nvSpPr>
        <p:spPr>
          <a:xfrm>
            <a:off x="5040000" y="1080000"/>
            <a:ext cx="1915000" cy="28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PI</a:t>
            </a:r>
          </a:p>
        </p:txBody>
      </p:sp>
      <p:sp>
        <p:nvSpPr>
          <p:cNvPr id="811" name="FinV2"/>
          <p:cNvSpPr/>
          <p:nvPr/>
        </p:nvSpPr>
        <p:spPr>
          <a:xfrm>
            <a:off x="5040000" y="1360000"/>
            <a:ext cx="1915000" cy="67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2,53</a:t>
            </a:r>
          </a:p>
          <a:p>
            <a:pPr marL="0" lvl="0" indent="0" algn="ctr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индекс доходности —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на 1 ₽ инвестиций 2,53 ₽</a:t>
            </a:r>
          </a:p>
        </p:txBody>
      </p:sp>
      <p:sp>
        <p:nvSpPr>
          <p:cNvPr id="812" name="FinL3"/>
          <p:cNvSpPr/>
          <p:nvPr/>
        </p:nvSpPr>
        <p:spPr>
          <a:xfrm>
            <a:off x="7035000" y="1080000"/>
            <a:ext cx="1915000" cy="280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IRR</a:t>
            </a:r>
          </a:p>
        </p:txBody>
      </p:sp>
      <p:sp>
        <p:nvSpPr>
          <p:cNvPr id="813" name="FinV3"/>
          <p:cNvSpPr/>
          <p:nvPr/>
        </p:nvSpPr>
        <p:spPr>
          <a:xfrm>
            <a:off x="7035000" y="1360000"/>
            <a:ext cx="1915000" cy="67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59,1 %</a:t>
            </a:r>
          </a:p>
          <a:p>
            <a:pPr marL="0" lvl="0" indent="0" algn="ctr" rtl="0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внутренняя норма</a:t>
            </a:r>
          </a:p>
          <a:p>
            <a:pPr marL="0" lvl="0" indent="0" algn="ctr" rtl="0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ru-RU" sz="85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доходности (≫ r = 20 %)</a:t>
            </a:r>
          </a:p>
        </p:txBody>
      </p:sp>
      <p:sp>
        <p:nvSpPr>
          <p:cNvPr id="814" name="CFTitle"/>
          <p:cNvSpPr txBox="1"/>
          <p:nvPr/>
        </p:nvSpPr>
        <p:spPr>
          <a:xfrm>
            <a:off x="1050000" y="2080000"/>
            <a:ext cx="7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ДЕНЕЖНЫЕ ПОТОКИ СТРАТЕГИИ ПРОДВИЖЕНИЯ FACE2  </a:t>
            </a:r>
            <a:r>
              <a:rPr lang="ru-RU" sz="850" i="1" dirty="0">
                <a:solidFill>
                  <a:srgbClr val="888888"/>
                </a:solidFill>
                <a:latin typeface="PT Sans"/>
                <a:ea typeface="PT Sans"/>
                <a:cs typeface="PT Sans"/>
              </a:rPr>
              <a:t>(детальная декомпозиция I</a:t>
            </a:r>
            <a:r>
              <a:rPr lang="ru-RU" sz="600" i="1" dirty="0">
                <a:solidFill>
                  <a:srgbClr val="888888"/>
                </a:solidFill>
                <a:latin typeface="PT Sans"/>
                <a:ea typeface="PT Sans"/>
                <a:cs typeface="PT Sans"/>
              </a:rPr>
              <a:t>0</a:t>
            </a:r>
            <a:r>
              <a:rPr lang="ru-RU" sz="850" i="1" dirty="0">
                <a:solidFill>
                  <a:srgbClr val="888888"/>
                </a:solidFill>
                <a:latin typeface="PT Sans"/>
                <a:ea typeface="PT Sans"/>
                <a:cs typeface="PT Sans"/>
              </a:rPr>
              <a:t> и CF — Финансовая_модель_Face2.md)</a:t>
            </a:r>
          </a:p>
        </p:txBody>
      </p:sp>
      <p:sp>
        <p:nvSpPr>
          <p:cNvPr id="815" name="CFH0"/>
          <p:cNvSpPr/>
          <p:nvPr/>
        </p:nvSpPr>
        <p:spPr>
          <a:xfrm>
            <a:off x="1050000" y="2360000"/>
            <a:ext cx="1300000" cy="3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Год / показатель</a:t>
            </a:r>
          </a:p>
        </p:txBody>
      </p:sp>
      <p:sp>
        <p:nvSpPr>
          <p:cNvPr id="816" name="CFH1"/>
          <p:cNvSpPr/>
          <p:nvPr/>
        </p:nvSpPr>
        <p:spPr>
          <a:xfrm>
            <a:off x="2350000" y="2360000"/>
            <a:ext cx="916666" cy="3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0</a:t>
            </a:r>
          </a:p>
        </p:txBody>
      </p:sp>
      <p:sp>
        <p:nvSpPr>
          <p:cNvPr id="817" name="CFH2"/>
          <p:cNvSpPr/>
          <p:nvPr/>
        </p:nvSpPr>
        <p:spPr>
          <a:xfrm>
            <a:off x="3266666" y="2360000"/>
            <a:ext cx="916666" cy="3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</a:t>
            </a:r>
          </a:p>
        </p:txBody>
      </p:sp>
      <p:sp>
        <p:nvSpPr>
          <p:cNvPr id="818" name="CFH3"/>
          <p:cNvSpPr/>
          <p:nvPr/>
        </p:nvSpPr>
        <p:spPr>
          <a:xfrm>
            <a:off x="4183332" y="2360000"/>
            <a:ext cx="916666" cy="3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2</a:t>
            </a:r>
          </a:p>
        </p:txBody>
      </p:sp>
      <p:sp>
        <p:nvSpPr>
          <p:cNvPr id="819" name="CFH4"/>
          <p:cNvSpPr/>
          <p:nvPr/>
        </p:nvSpPr>
        <p:spPr>
          <a:xfrm>
            <a:off x="5099998" y="2360000"/>
            <a:ext cx="916666" cy="3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3</a:t>
            </a:r>
          </a:p>
        </p:txBody>
      </p:sp>
      <p:sp>
        <p:nvSpPr>
          <p:cNvPr id="820" name="CFH5"/>
          <p:cNvSpPr/>
          <p:nvPr/>
        </p:nvSpPr>
        <p:spPr>
          <a:xfrm>
            <a:off x="6016664" y="2360000"/>
            <a:ext cx="916666" cy="3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4</a:t>
            </a:r>
          </a:p>
        </p:txBody>
      </p:sp>
      <p:sp>
        <p:nvSpPr>
          <p:cNvPr id="821" name="CFH6"/>
          <p:cNvSpPr/>
          <p:nvPr/>
        </p:nvSpPr>
        <p:spPr>
          <a:xfrm>
            <a:off x="6933330" y="2360000"/>
            <a:ext cx="916666" cy="3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5</a:t>
            </a:r>
          </a:p>
        </p:txBody>
      </p:sp>
      <p:sp>
        <p:nvSpPr>
          <p:cNvPr id="822" name="CFH7"/>
          <p:cNvSpPr/>
          <p:nvPr/>
        </p:nvSpPr>
        <p:spPr>
          <a:xfrm>
            <a:off x="7849996" y="2360000"/>
            <a:ext cx="1100000" cy="32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Итого</a:t>
            </a:r>
          </a:p>
        </p:txBody>
      </p:sp>
      <p:sp>
        <p:nvSpPr>
          <p:cNvPr id="823" name="CFR0L"/>
          <p:cNvSpPr/>
          <p:nvPr/>
        </p:nvSpPr>
        <p:spPr>
          <a:xfrm>
            <a:off x="1050000" y="2680000"/>
            <a:ext cx="1300000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CF, млн ₽</a:t>
            </a:r>
          </a:p>
        </p:txBody>
      </p:sp>
      <p:sp>
        <p:nvSpPr>
          <p:cNvPr id="824" name="CFR0C0"/>
          <p:cNvSpPr/>
          <p:nvPr/>
        </p:nvSpPr>
        <p:spPr>
          <a:xfrm>
            <a:off x="2350000" y="268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−28,0</a:t>
            </a:r>
          </a:p>
        </p:txBody>
      </p:sp>
      <p:sp>
        <p:nvSpPr>
          <p:cNvPr id="825" name="CFR0C1"/>
          <p:cNvSpPr/>
          <p:nvPr/>
        </p:nvSpPr>
        <p:spPr>
          <a:xfrm>
            <a:off x="3266666" y="268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6,0</a:t>
            </a:r>
          </a:p>
        </p:txBody>
      </p:sp>
      <p:sp>
        <p:nvSpPr>
          <p:cNvPr id="826" name="CFR0C2"/>
          <p:cNvSpPr/>
          <p:nvPr/>
        </p:nvSpPr>
        <p:spPr>
          <a:xfrm>
            <a:off x="4183332" y="268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16,0</a:t>
            </a:r>
          </a:p>
        </p:txBody>
      </p:sp>
      <p:sp>
        <p:nvSpPr>
          <p:cNvPr id="827" name="CFR0C3"/>
          <p:cNvSpPr/>
          <p:nvPr/>
        </p:nvSpPr>
        <p:spPr>
          <a:xfrm>
            <a:off x="5099998" y="268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28,0</a:t>
            </a:r>
          </a:p>
        </p:txBody>
      </p:sp>
      <p:sp>
        <p:nvSpPr>
          <p:cNvPr id="828" name="CFR0C4"/>
          <p:cNvSpPr/>
          <p:nvPr/>
        </p:nvSpPr>
        <p:spPr>
          <a:xfrm>
            <a:off x="6016664" y="268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40,0</a:t>
            </a:r>
          </a:p>
        </p:txBody>
      </p:sp>
      <p:sp>
        <p:nvSpPr>
          <p:cNvPr id="829" name="CFR0C5"/>
          <p:cNvSpPr/>
          <p:nvPr/>
        </p:nvSpPr>
        <p:spPr>
          <a:xfrm>
            <a:off x="6933330" y="268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48,0</a:t>
            </a:r>
          </a:p>
        </p:txBody>
      </p:sp>
      <p:sp>
        <p:nvSpPr>
          <p:cNvPr id="830" name="CFR0C6"/>
          <p:cNvSpPr/>
          <p:nvPr/>
        </p:nvSpPr>
        <p:spPr>
          <a:xfrm>
            <a:off x="7849996" y="2680000"/>
            <a:ext cx="1100000" cy="320000"/>
          </a:xfrm>
          <a:prstGeom prst="rect">
            <a:avLst/>
          </a:prstGeom>
          <a:solidFill>
            <a:srgbClr val="D6DCE5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+138,0</a:t>
            </a:r>
          </a:p>
        </p:txBody>
      </p:sp>
      <p:sp>
        <p:nvSpPr>
          <p:cNvPr id="831" name="CFR1L"/>
          <p:cNvSpPr/>
          <p:nvPr/>
        </p:nvSpPr>
        <p:spPr>
          <a:xfrm>
            <a:off x="1050000" y="3000000"/>
            <a:ext cx="1300000" cy="32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DCF, млн ₽ (r=20 %)</a:t>
            </a:r>
          </a:p>
        </p:txBody>
      </p:sp>
      <p:sp>
        <p:nvSpPr>
          <p:cNvPr id="832" name="CFR1C0"/>
          <p:cNvSpPr/>
          <p:nvPr/>
        </p:nvSpPr>
        <p:spPr>
          <a:xfrm>
            <a:off x="2350000" y="3000000"/>
            <a:ext cx="916666" cy="32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−28,0</a:t>
            </a:r>
          </a:p>
        </p:txBody>
      </p:sp>
      <p:sp>
        <p:nvSpPr>
          <p:cNvPr id="833" name="CFR1C1"/>
          <p:cNvSpPr/>
          <p:nvPr/>
        </p:nvSpPr>
        <p:spPr>
          <a:xfrm>
            <a:off x="3266666" y="3000000"/>
            <a:ext cx="916666" cy="32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5,0</a:t>
            </a:r>
          </a:p>
        </p:txBody>
      </p:sp>
      <p:sp>
        <p:nvSpPr>
          <p:cNvPr id="834" name="CFR1C2"/>
          <p:cNvSpPr/>
          <p:nvPr/>
        </p:nvSpPr>
        <p:spPr>
          <a:xfrm>
            <a:off x="4183332" y="3000000"/>
            <a:ext cx="916666" cy="32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11,1</a:t>
            </a:r>
          </a:p>
        </p:txBody>
      </p:sp>
      <p:sp>
        <p:nvSpPr>
          <p:cNvPr id="835" name="CFR1C3"/>
          <p:cNvSpPr/>
          <p:nvPr/>
        </p:nvSpPr>
        <p:spPr>
          <a:xfrm>
            <a:off x="5099998" y="3000000"/>
            <a:ext cx="916666" cy="32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16,2</a:t>
            </a:r>
          </a:p>
        </p:txBody>
      </p:sp>
      <p:sp>
        <p:nvSpPr>
          <p:cNvPr id="836" name="CFR1C4"/>
          <p:cNvSpPr/>
          <p:nvPr/>
        </p:nvSpPr>
        <p:spPr>
          <a:xfrm>
            <a:off x="6016664" y="3000000"/>
            <a:ext cx="916666" cy="32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19,3</a:t>
            </a:r>
          </a:p>
        </p:txBody>
      </p:sp>
      <p:sp>
        <p:nvSpPr>
          <p:cNvPr id="837" name="CFR1C5"/>
          <p:cNvSpPr/>
          <p:nvPr/>
        </p:nvSpPr>
        <p:spPr>
          <a:xfrm>
            <a:off x="6933330" y="3000000"/>
            <a:ext cx="916666" cy="32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19,3</a:t>
            </a:r>
          </a:p>
        </p:txBody>
      </p:sp>
      <p:sp>
        <p:nvSpPr>
          <p:cNvPr id="838" name="CFR1C6"/>
          <p:cNvSpPr/>
          <p:nvPr/>
        </p:nvSpPr>
        <p:spPr>
          <a:xfrm>
            <a:off x="7849996" y="3000000"/>
            <a:ext cx="1100000" cy="320000"/>
          </a:xfrm>
          <a:prstGeom prst="rect">
            <a:avLst/>
          </a:prstGeom>
          <a:solidFill>
            <a:srgbClr val="D6DCE5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+70,9</a:t>
            </a:r>
          </a:p>
        </p:txBody>
      </p:sp>
      <p:sp>
        <p:nvSpPr>
          <p:cNvPr id="839" name="CFR2L"/>
          <p:cNvSpPr/>
          <p:nvPr/>
        </p:nvSpPr>
        <p:spPr>
          <a:xfrm>
            <a:off x="1050000" y="3320000"/>
            <a:ext cx="1300000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Накопл. DCF</a:t>
            </a:r>
          </a:p>
        </p:txBody>
      </p:sp>
      <p:sp>
        <p:nvSpPr>
          <p:cNvPr id="840" name="CFR2C0"/>
          <p:cNvSpPr/>
          <p:nvPr/>
        </p:nvSpPr>
        <p:spPr>
          <a:xfrm>
            <a:off x="2350000" y="332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−28,0</a:t>
            </a:r>
          </a:p>
        </p:txBody>
      </p:sp>
      <p:sp>
        <p:nvSpPr>
          <p:cNvPr id="841" name="CFR2C1"/>
          <p:cNvSpPr/>
          <p:nvPr/>
        </p:nvSpPr>
        <p:spPr>
          <a:xfrm>
            <a:off x="3266666" y="332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−23,0</a:t>
            </a:r>
          </a:p>
        </p:txBody>
      </p:sp>
      <p:sp>
        <p:nvSpPr>
          <p:cNvPr id="842" name="CFR2C2"/>
          <p:cNvSpPr/>
          <p:nvPr/>
        </p:nvSpPr>
        <p:spPr>
          <a:xfrm>
            <a:off x="4183332" y="332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−11,9</a:t>
            </a:r>
          </a:p>
        </p:txBody>
      </p:sp>
      <p:sp>
        <p:nvSpPr>
          <p:cNvPr id="843" name="CFR2C3"/>
          <p:cNvSpPr/>
          <p:nvPr/>
        </p:nvSpPr>
        <p:spPr>
          <a:xfrm>
            <a:off x="5099998" y="332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+4,3</a:t>
            </a:r>
          </a:p>
        </p:txBody>
      </p:sp>
      <p:sp>
        <p:nvSpPr>
          <p:cNvPr id="844" name="CFR2C4"/>
          <p:cNvSpPr/>
          <p:nvPr/>
        </p:nvSpPr>
        <p:spPr>
          <a:xfrm>
            <a:off x="6016664" y="332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+23,6</a:t>
            </a:r>
          </a:p>
        </p:txBody>
      </p:sp>
      <p:sp>
        <p:nvSpPr>
          <p:cNvPr id="845" name="CFR2C5"/>
          <p:cNvSpPr/>
          <p:nvPr/>
        </p:nvSpPr>
        <p:spPr>
          <a:xfrm>
            <a:off x="6933330" y="3320000"/>
            <a:ext cx="916666" cy="320000"/>
          </a:xfrm>
          <a:prstGeom prst="rect">
            <a:avLst/>
          </a:prstGeom>
          <a:solidFill>
            <a:srgbClr val="F2F2F2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+42,9</a:t>
            </a:r>
          </a:p>
        </p:txBody>
      </p:sp>
      <p:sp>
        <p:nvSpPr>
          <p:cNvPr id="846" name="CFR2C6"/>
          <p:cNvSpPr/>
          <p:nvPr/>
        </p:nvSpPr>
        <p:spPr>
          <a:xfrm>
            <a:off x="7849996" y="3320000"/>
            <a:ext cx="1100000" cy="320000"/>
          </a:xfrm>
          <a:prstGeom prst="rect">
            <a:avLst/>
          </a:prstGeom>
          <a:solidFill>
            <a:srgbClr val="D6DCE5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NPV</a:t>
            </a:r>
          </a:p>
        </p:txBody>
      </p:sp>
      <p:sp>
        <p:nvSpPr>
          <p:cNvPr id="847" name="RisksTitle"/>
          <p:cNvSpPr txBox="1"/>
          <p:nvPr/>
        </p:nvSpPr>
        <p:spPr>
          <a:xfrm>
            <a:off x="1050000" y="3220000"/>
            <a:ext cx="79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КЛЮЧЕВЫЕ РИСКИ И МЕРЫ ПО ИХ УДЕРЖАНИЮ</a:t>
            </a:r>
          </a:p>
        </p:txBody>
      </p:sp>
      <p:sp>
        <p:nvSpPr>
          <p:cNvPr id="848" name="RH0"/>
          <p:cNvSpPr/>
          <p:nvPr/>
        </p:nvSpPr>
        <p:spPr>
          <a:xfrm>
            <a:off x="1050000" y="3500000"/>
            <a:ext cx="1930000" cy="23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РЕГУЛЯТОРНЫЙ</a:t>
            </a:r>
          </a:p>
        </p:txBody>
      </p:sp>
      <p:sp>
        <p:nvSpPr>
          <p:cNvPr id="849" name="RB0"/>
          <p:cNvSpPr/>
          <p:nvPr/>
        </p:nvSpPr>
        <p:spPr>
          <a:xfrm>
            <a:off x="1050000" y="3730000"/>
            <a:ext cx="1930000" cy="62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Угроза: </a:t>
            </a:r>
            <a:r>
              <a:rPr lang="ru-RU" sz="8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ужесточение 572-ФЗ, новые штрафы</a:t>
            </a:r>
          </a:p>
          <a:p>
            <a:pPr marL="0" lvl="0" indent="0" algn="l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8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Меры: </a:t>
            </a:r>
            <a:r>
              <a:rPr lang="ru-RU" sz="8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юр. сопровождение, аудит соответствия</a:t>
            </a:r>
          </a:p>
        </p:txBody>
      </p:sp>
      <p:sp>
        <p:nvSpPr>
          <p:cNvPr id="850" name="RH1"/>
          <p:cNvSpPr/>
          <p:nvPr/>
        </p:nvSpPr>
        <p:spPr>
          <a:xfrm>
            <a:off x="3040000" y="3500000"/>
            <a:ext cx="1930000" cy="23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РЕПУТАЦИОННЫЙ</a:t>
            </a:r>
          </a:p>
        </p:txBody>
      </p:sp>
      <p:sp>
        <p:nvSpPr>
          <p:cNvPr id="851" name="RB1"/>
          <p:cNvSpPr/>
          <p:nvPr/>
        </p:nvSpPr>
        <p:spPr>
          <a:xfrm>
            <a:off x="3040000" y="3730000"/>
            <a:ext cx="1930000" cy="62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Угроза: </a:t>
            </a:r>
            <a:r>
              <a:rPr lang="ru-RU" sz="8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утечка биометрии, волна публикаций</a:t>
            </a:r>
          </a:p>
          <a:p>
            <a:pPr marL="0" lvl="0" indent="0" algn="l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8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Меры: </a:t>
            </a:r>
            <a:r>
              <a:rPr lang="ru-RU" sz="8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комплаенс, мониторинг, кризис-план</a:t>
            </a:r>
          </a:p>
        </p:txBody>
      </p:sp>
      <p:sp>
        <p:nvSpPr>
          <p:cNvPr id="852" name="RH2"/>
          <p:cNvSpPr/>
          <p:nvPr/>
        </p:nvSpPr>
        <p:spPr>
          <a:xfrm>
            <a:off x="5030000" y="3500000"/>
            <a:ext cx="1930000" cy="23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ТЕХНИЧЕСКИЙ</a:t>
            </a:r>
          </a:p>
        </p:txBody>
      </p:sp>
      <p:sp>
        <p:nvSpPr>
          <p:cNvPr id="853" name="RB2"/>
          <p:cNvSpPr/>
          <p:nvPr/>
        </p:nvSpPr>
        <p:spPr>
          <a:xfrm>
            <a:off x="5030000" y="3730000"/>
            <a:ext cx="1930000" cy="62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Угроза: </a:t>
            </a:r>
            <a:r>
              <a:rPr lang="ru-RU" sz="8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ошибки распознавания, FAR/FRR</a:t>
            </a:r>
          </a:p>
          <a:p>
            <a:pPr marL="0" lvl="0" indent="0" algn="l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8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Меры: </a:t>
            </a:r>
            <a:r>
              <a:rPr lang="ru-RU" sz="8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A/B-тесты, контроль качества модели</a:t>
            </a:r>
          </a:p>
        </p:txBody>
      </p:sp>
      <p:sp>
        <p:nvSpPr>
          <p:cNvPr id="854" name="RH3"/>
          <p:cNvSpPr/>
          <p:nvPr/>
        </p:nvSpPr>
        <p:spPr>
          <a:xfrm>
            <a:off x="7020000" y="3500000"/>
            <a:ext cx="1930000" cy="23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РЫНОЧНЫЙ</a:t>
            </a:r>
          </a:p>
        </p:txBody>
      </p:sp>
      <p:sp>
        <p:nvSpPr>
          <p:cNvPr id="855" name="RB3"/>
          <p:cNvSpPr/>
          <p:nvPr/>
        </p:nvSpPr>
        <p:spPr>
          <a:xfrm>
            <a:off x="7020000" y="3730000"/>
            <a:ext cx="1930000" cy="620000"/>
          </a:xfrm>
          <a:prstGeom prst="rect">
            <a:avLst/>
          </a:prstGeom>
          <a:solidFill>
            <a:srgbClr val="FFFFFF"/>
          </a:solidFill>
          <a:ln w="3175">
            <a:solidFill>
              <a:srgbClr val="888888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Угроза: </a:t>
            </a:r>
            <a:r>
              <a:rPr lang="ru-RU" sz="8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медленная диффузия, барьеры доверия</a:t>
            </a:r>
          </a:p>
          <a:p>
            <a:pPr marL="0" lvl="0" indent="0" algn="l" rtl="0">
              <a:lnSpc>
                <a:spcPct val="11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lang="ru-RU" sz="8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Меры: </a:t>
            </a:r>
            <a:r>
              <a:rPr lang="ru-RU" sz="8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образовательные форматы, кейсы</a:t>
            </a:r>
          </a:p>
        </p:txBody>
      </p:sp>
      <p:sp>
        <p:nvSpPr>
          <p:cNvPr id="856" name="FinalNote"/>
          <p:cNvSpPr/>
          <p:nvPr/>
        </p:nvSpPr>
        <p:spPr>
          <a:xfrm>
            <a:off x="1050000" y="4500000"/>
            <a:ext cx="7900000" cy="40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→ Стратегия эффективна: </a:t>
            </a:r>
            <a:r>
              <a:rPr lang="ru-RU" sz="11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NPV &gt; 0, IRR (59 %) ≫ r (20 %), PI = 2,5; запас прочности — снижение CF до −60 % сохраняет NPV &gt; 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Stri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795"/>
            <a:ext cx="899592" cy="5148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2" name="KFU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703" y="93531"/>
            <a:ext cx="684193" cy="580591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SlideNumber"/>
          <p:cNvSpPr txBox="1"/>
          <p:nvPr/>
        </p:nvSpPr>
        <p:spPr>
          <a:xfrm>
            <a:off x="100000" y="4643500"/>
            <a:ext cx="699592" cy="35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9</a:t>
            </a:r>
          </a:p>
        </p:txBody>
      </p:sp>
      <p:sp>
        <p:nvSpPr>
          <p:cNvPr id="904" name="Title"/>
          <p:cNvSpPr txBox="1"/>
          <p:nvPr/>
        </p:nvSpPr>
        <p:spPr>
          <a:xfrm>
            <a:off x="989551" y="130000"/>
            <a:ext cx="7800000" cy="5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ВЫВОДЫ</a:t>
            </a:r>
          </a:p>
        </p:txBody>
      </p:sp>
      <p:sp>
        <p:nvSpPr>
          <p:cNvPr id="905" name="CN0"/>
          <p:cNvSpPr/>
          <p:nvPr/>
        </p:nvSpPr>
        <p:spPr>
          <a:xfrm>
            <a:off x="1050000" y="850000"/>
            <a:ext cx="600000" cy="1745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1</a:t>
            </a:r>
          </a:p>
        </p:txBody>
      </p:sp>
      <p:sp>
        <p:nvSpPr>
          <p:cNvPr id="906" name="CB0"/>
          <p:cNvSpPr/>
          <p:nvPr/>
        </p:nvSpPr>
        <p:spPr>
          <a:xfrm>
            <a:off x="1650000" y="850000"/>
            <a:ext cx="3250000" cy="17450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ТЕОРЕТИЧЕСКАЯ РАМКА</a:t>
            </a: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Биометрия — высокотехнологичный инновационный продукт повышенного риска. Стандартный маркетинг не работает: требуется образовательная коммуникация и работа с барьерами доверия.</a:t>
            </a:r>
          </a:p>
        </p:txBody>
      </p:sp>
      <p:sp>
        <p:nvSpPr>
          <p:cNvPr id="907" name="CN1"/>
          <p:cNvSpPr/>
          <p:nvPr/>
        </p:nvSpPr>
        <p:spPr>
          <a:xfrm>
            <a:off x="5000000" y="850000"/>
            <a:ext cx="600000" cy="1745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2</a:t>
            </a:r>
          </a:p>
        </p:txBody>
      </p:sp>
      <p:sp>
        <p:nvSpPr>
          <p:cNvPr id="908" name="CB1"/>
          <p:cNvSpPr/>
          <p:nvPr/>
        </p:nvSpPr>
        <p:spPr>
          <a:xfrm>
            <a:off x="5600000" y="850000"/>
            <a:ext cx="3250000" cy="17450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ОБЪЕКТ И РЕСУРСЫ</a:t>
            </a: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Ак Барс Банк — крупный региональный игрок с активами 1,16 трлн ₽, рейтингом A(RU) и собственной аккредитованной КБС. Face2 интегрирован в стратегию банка 2022–2026.</a:t>
            </a:r>
          </a:p>
        </p:txBody>
      </p:sp>
      <p:sp>
        <p:nvSpPr>
          <p:cNvPr id="909" name="CN2"/>
          <p:cNvSpPr/>
          <p:nvPr/>
        </p:nvSpPr>
        <p:spPr>
          <a:xfrm>
            <a:off x="1050000" y="2695000"/>
            <a:ext cx="600000" cy="1745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3</a:t>
            </a:r>
          </a:p>
        </p:txBody>
      </p:sp>
      <p:sp>
        <p:nvSpPr>
          <p:cNvPr id="910" name="CB2"/>
          <p:cNvSpPr/>
          <p:nvPr/>
        </p:nvSpPr>
        <p:spPr>
          <a:xfrm>
            <a:off x="1650000" y="2695000"/>
            <a:ext cx="3250000" cy="17450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РЫНОК И ПОЗИЦИЯ</a:t>
            </a: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Конкурентное поле ограничено аккредитованными КБС. Преимущество Face2 — статус оператора у банка, региональная база Татарстана и первая референтная группа федерального уровня.</a:t>
            </a:r>
          </a:p>
        </p:txBody>
      </p:sp>
      <p:sp>
        <p:nvSpPr>
          <p:cNvPr id="911" name="CN3"/>
          <p:cNvSpPr/>
          <p:nvPr/>
        </p:nvSpPr>
        <p:spPr>
          <a:xfrm>
            <a:off x="5000000" y="2695000"/>
            <a:ext cx="600000" cy="1745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5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4</a:t>
            </a:r>
          </a:p>
        </p:txBody>
      </p:sp>
      <p:sp>
        <p:nvSpPr>
          <p:cNvPr id="912" name="CB3"/>
          <p:cNvSpPr/>
          <p:nvPr/>
        </p:nvSpPr>
        <p:spPr>
          <a:xfrm>
            <a:off x="5600000" y="2695000"/>
            <a:ext cx="3250000" cy="1745000"/>
          </a:xfrm>
          <a:prstGeom prst="rect">
            <a:avLst/>
          </a:prstGeom>
          <a:solidFill>
            <a:srgbClr val="FFFFFF"/>
          </a:solidFill>
          <a:ln w="6350">
            <a:solidFill>
              <a:srgbClr val="17365D"/>
            </a:solidFill>
          </a:ln>
        </p:spPr>
        <p:txBody>
          <a:bodyPr wrap="square" lIns="91440" tIns="45720" rIns="91440" bIns="45720" anchor="t" anchorCtr="1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1" dirty="0">
                <a:solidFill>
                  <a:srgbClr val="17365D"/>
                </a:solidFill>
                <a:latin typeface="PT Sans"/>
                <a:ea typeface="PT Sans"/>
                <a:cs typeface="PT Sans"/>
              </a:rPr>
              <a:t>СТРАТЕГИЯ И ЭФФЕКТ</a:t>
            </a:r>
          </a:p>
          <a:p>
            <a:pPr marL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Предложена интегрированная стратегия push + pull с маркетинговой воронкой и этапом доверия, набором 7P и комплексом мероприятий. Целевой ROI ≥ 180 % за 24 месяца.</a:t>
            </a:r>
          </a:p>
        </p:txBody>
      </p:sp>
      <p:sp>
        <p:nvSpPr>
          <p:cNvPr id="913" name="OverallNote"/>
          <p:cNvSpPr/>
          <p:nvPr/>
        </p:nvSpPr>
        <p:spPr>
          <a:xfrm>
            <a:off x="1050000" y="4540000"/>
            <a:ext cx="7900000" cy="380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txBody>
          <a:bodyPr wrap="square" lIns="91440" tIns="45720" rIns="91440" bIns="45720" anchor="ctr" anchorCtr="1">
            <a:norm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ОБЩИЙ ИТОГ: </a:t>
            </a:r>
            <a:r>
              <a:rPr lang="ru-RU" sz="1100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Цель ВКР достигнута, разработана работоспособная стратегия продвижения Face2 как инновационного продукта повышенного риска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Backgrou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Thanks"/>
          <p:cNvSpPr txBox="1"/>
          <p:nvPr/>
        </p:nvSpPr>
        <p:spPr>
          <a:xfrm>
            <a:off x="0" y="1900000"/>
            <a:ext cx="9144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СПАСИБО ЗА ВНИМАНИЕ!</a:t>
            </a:r>
          </a:p>
        </p:txBody>
      </p:sp>
      <p:sp>
        <p:nvSpPr>
          <p:cNvPr id="1003" name="Sub"/>
          <p:cNvSpPr txBox="1"/>
          <p:nvPr/>
        </p:nvSpPr>
        <p:spPr>
          <a:xfrm>
            <a:off x="0" y="3000000"/>
            <a:ext cx="9144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i="1" dirty="0">
                <a:solidFill>
                  <a:srgbClr val="FFFFFF"/>
                </a:solidFill>
                <a:latin typeface="PT Sans"/>
                <a:ea typeface="PT Sans"/>
                <a:cs typeface="PT Sans"/>
              </a:rPr>
              <a:t>Готова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112</Words>
  <Application>Microsoft Office PowerPoint</Application>
  <PresentationFormat>Экран (16:9)</PresentationFormat>
  <Paragraphs>25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PT Sans</vt:lpstr>
      <vt:lpstr>Times New Roman</vt:lpstr>
      <vt:lpstr>Тема Office</vt:lpstr>
      <vt:lpstr>НАЗВАНИЕ ТЕМЫ</vt:lpstr>
      <vt:lpstr>АКТУАЛЬНОСТЬ</vt:lpstr>
      <vt:lpstr>ЦЕЛИ И ЗАДАЧИ*  *не более 5 задач</vt:lpstr>
      <vt:lpstr>РЕЗУЛЬТАТЫ ПО ЗАДАЧЕ 1</vt:lpstr>
      <vt:lpstr>РЕЗУЛЬТАТЫ ПО ЗАДАЧЕ 2</vt:lpstr>
      <vt:lpstr>РЕЗУЛЬТАТЫ ПО ЗАДАЧЕ 3</vt:lpstr>
      <vt:lpstr>РЕЗУЛЬТАТЫ ПО ЗАДАЧЕ 4</vt:lpstr>
      <vt:lpstr>РЕЗУЛЬТАТЫ ПО ЗАДАЧЕ 5</vt:lpstr>
      <vt:lpstr>ВЫВОДЫ 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ГИБКАЯ МЕТОДОЛОГИЯ УПРАВЛЕНИЯ ПРОЕКТАМИ AGILE</dc:title>
  <dc:creator>Ольга</dc:creator>
  <cp:lastModifiedBy>Михаил Кузьмин</cp:lastModifiedBy>
  <cp:revision>43</cp:revision>
  <dcterms:created xsi:type="dcterms:W3CDTF">2022-06-09T15:01:43Z</dcterms:created>
  <dcterms:modified xsi:type="dcterms:W3CDTF">2026-05-08T08:03:20Z</dcterms:modified>
</cp:coreProperties>
</file>